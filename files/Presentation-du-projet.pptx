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7"/>
  </p:handoutMasterIdLst>
  <p:sldIdLst>
    <p:sldId id="346" r:id="rId3"/>
    <p:sldId id="474" r:id="rId5"/>
    <p:sldId id="482" r:id="rId6"/>
    <p:sldId id="509" r:id="rId7"/>
    <p:sldId id="510" r:id="rId8"/>
    <p:sldId id="511" r:id="rId9"/>
    <p:sldId id="513" r:id="rId10"/>
    <p:sldId id="514" r:id="rId11"/>
    <p:sldId id="515" r:id="rId12"/>
    <p:sldId id="516" r:id="rId13"/>
    <p:sldId id="517" r:id="rId14"/>
    <p:sldId id="528" r:id="rId15"/>
    <p:sldId id="520" r:id="rId16"/>
    <p:sldId id="521" r:id="rId17"/>
    <p:sldId id="522" r:id="rId18"/>
    <p:sldId id="525" r:id="rId19"/>
    <p:sldId id="526" r:id="rId20"/>
    <p:sldId id="524" r:id="rId21"/>
    <p:sldId id="527" r:id="rId22"/>
    <p:sldId id="529" r:id="rId23"/>
    <p:sldId id="530" r:id="rId24"/>
    <p:sldId id="531" r:id="rId25"/>
    <p:sldId id="501" r:id="rId26"/>
  </p:sldIdLst>
  <p:sldSz cx="9144000" cy="6858000" type="screen4x3"/>
  <p:notesSz cx="6797675" cy="9874250"/>
  <p:defaultTextStyle>
    <a:defPPr>
      <a:defRPr lang="fr-FR"/>
    </a:defPPr>
    <a:lvl1pPr algn="l" rtl="0" fontAlgn="base">
      <a:spcBef>
        <a:spcPct val="0"/>
      </a:spcBef>
      <a:spcAft>
        <a:spcPct val="0"/>
      </a:spcAft>
      <a:defRPr sz="1600" kern="1200">
        <a:solidFill>
          <a:srgbClr val="F18E00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rgbClr val="F18E00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rgbClr val="F18E00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rgbClr val="F18E00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rgbClr val="F18E00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600" kern="1200">
        <a:solidFill>
          <a:srgbClr val="F18E00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1600" kern="1200">
        <a:solidFill>
          <a:srgbClr val="F18E00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1600" kern="1200">
        <a:solidFill>
          <a:srgbClr val="F18E00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1600" kern="1200">
        <a:solidFill>
          <a:srgbClr val="F18E00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66"/>
    <a:srgbClr val="FF9933"/>
    <a:srgbClr val="F0CEDD"/>
    <a:srgbClr val="9966FF"/>
    <a:srgbClr val="FF99CC"/>
    <a:srgbClr val="FF6600"/>
    <a:srgbClr val="660033"/>
    <a:srgbClr val="800000"/>
    <a:srgbClr val="FF9900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2281" autoAdjust="0"/>
    <p:restoredTop sz="88172" autoAdjust="0"/>
  </p:normalViewPr>
  <p:slideViewPr>
    <p:cSldViewPr showGuides="1">
      <p:cViewPr varScale="1">
        <p:scale>
          <a:sx n="73" d="100"/>
          <a:sy n="73" d="100"/>
        </p:scale>
        <p:origin x="-85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64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1308" y="-84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51163" cy="530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843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3025" y="0"/>
            <a:ext cx="2951163" cy="5302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988F962-180D-46E0-A8F1-1A510395F1B3}" type="datetimeFigureOut">
              <a:rPr lang="en-GB"/>
            </a:fld>
            <a:endParaRPr lang="en-GB"/>
          </a:p>
        </p:txBody>
      </p:sp>
      <p:sp>
        <p:nvSpPr>
          <p:cNvPr id="1843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398000"/>
            <a:ext cx="2951163" cy="454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843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3025" y="9398000"/>
            <a:ext cx="2951163" cy="4540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0C935B7E-52E9-4389-9E2C-45A3DADEFAF5}" type="slidenum">
              <a:rPr lang="en-GB" altLang="fr-FR"/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481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275" y="0"/>
            <a:ext cx="294481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843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0275" y="739775"/>
            <a:ext cx="4937125" cy="37036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50" y="4691063"/>
            <a:ext cx="5438775" cy="4443412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fr-FR" noProof="0" smtClean="0"/>
              <a:t>Click to edit Master text styles</a:t>
            </a:r>
            <a:endParaRPr lang="fr-FR" noProof="0" smtClean="0"/>
          </a:p>
          <a:p>
            <a:pPr lvl="0"/>
            <a:r>
              <a:rPr lang="fr-FR" noProof="0" smtClean="0"/>
              <a:t>Second level</a:t>
            </a:r>
            <a:endParaRPr lang="fr-FR" noProof="0" smtClean="0"/>
          </a:p>
          <a:p>
            <a:pPr lvl="0"/>
            <a:r>
              <a:rPr lang="fr-FR" noProof="0" smtClean="0"/>
              <a:t>Third level</a:t>
            </a:r>
            <a:endParaRPr lang="fr-FR" noProof="0" smtClean="0"/>
          </a:p>
          <a:p>
            <a:pPr lvl="0"/>
            <a:r>
              <a:rPr lang="fr-FR" noProof="0" smtClean="0"/>
              <a:t>Fourth level</a:t>
            </a:r>
            <a:endParaRPr lang="fr-FR" noProof="0" smtClean="0"/>
          </a:p>
          <a:p>
            <a:pPr lvl="0"/>
            <a:r>
              <a:rPr lang="fr-FR" noProof="0" smtClean="0"/>
              <a:t>Fifth level</a:t>
            </a:r>
            <a:endParaRPr lang="fr-FR" noProof="0" smtClean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378950"/>
            <a:ext cx="294481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275" y="9378950"/>
            <a:ext cx="2944813" cy="493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95F8DC6-12DF-4753-BA13-E49090E18351}" type="slidenum">
              <a:rPr lang="fr-FR" altLang="fr-FR"/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F67552D1-38A8-4A9B-A47C-AD17BBA2E314}" type="slidenum">
              <a:rPr lang="fr-FR" altLang="fr-FR" sz="1200" smtClean="0">
                <a:solidFill>
                  <a:schemeClr val="tx1"/>
                </a:solidFill>
              </a:rPr>
            </a:fld>
            <a:endParaRPr lang="fr-FR" altLang="fr-FR" sz="1200" dirty="0" smtClean="0">
              <a:solidFill>
                <a:schemeClr val="tx1"/>
              </a:solidFill>
            </a:endParaRPr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fr-FR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/>
            </a:fld>
            <a:endParaRPr lang="fr-FR" altLang="fr-FR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Deux objectifs majeurs de l’ENE</a:t>
            </a:r>
            <a:endParaRPr lang="fr-FR" dirty="0" smtClean="0"/>
          </a:p>
          <a:p>
            <a:r>
              <a:rPr lang="fr-FR" dirty="0" smtClean="0"/>
              <a:t>Questionnaire</a:t>
            </a:r>
            <a:r>
              <a:rPr lang="fr-FR" baseline="0" dirty="0" smtClean="0"/>
              <a:t> actualisé </a:t>
            </a:r>
            <a:endParaRPr lang="fr-FR" baseline="0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/>
            </a:fld>
            <a:endParaRPr lang="fr-FR" altLang="fr-FR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>
                <a:solidFill>
                  <a:srgbClr val="000000"/>
                </a:solidFill>
              </a:rPr>
            </a:fld>
            <a:endParaRPr lang="fr-FR" altLang="fr-FR" dirty="0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Taux de chômage chez les diplômés élevé ,</a:t>
            </a:r>
            <a:r>
              <a:rPr lang="fr-FR" baseline="0" dirty="0" smtClean="0"/>
              <a:t> (diplôme </a:t>
            </a:r>
            <a:r>
              <a:rPr lang="fr-FR" dirty="0" smtClean="0"/>
              <a:t>supérieur est de 17,1%, 7,2% </a:t>
            </a:r>
            <a:r>
              <a:rPr lang="fr-FR" dirty="0" err="1" smtClean="0"/>
              <a:t>pr</a:t>
            </a:r>
            <a:r>
              <a:rPr lang="fr-FR" dirty="0" smtClean="0"/>
              <a:t> le moyen diplôme,</a:t>
            </a:r>
            <a:r>
              <a:rPr lang="fr-FR" baseline="0" dirty="0" smtClean="0"/>
              <a:t> 2,4% </a:t>
            </a:r>
            <a:r>
              <a:rPr lang="fr-FR" baseline="0" dirty="0" err="1" smtClean="0"/>
              <a:t>pr</a:t>
            </a:r>
            <a:r>
              <a:rPr lang="fr-FR" baseline="0" dirty="0" smtClean="0"/>
              <a:t> les non </a:t>
            </a:r>
            <a:r>
              <a:rPr lang="fr-FR" baseline="0" dirty="0" err="1" smtClean="0"/>
              <a:t>dipl</a:t>
            </a:r>
            <a:endParaRPr lang="fr-FR" baseline="0" dirty="0" smtClean="0"/>
          </a:p>
          <a:p>
            <a:r>
              <a:rPr lang="fr-FR" baseline="0" dirty="0" smtClean="0"/>
              <a:t>//             //             //  les jeunes </a:t>
            </a:r>
            <a:r>
              <a:rPr lang="fr-FR" baseline="0" dirty="0" err="1" smtClean="0"/>
              <a:t>agés</a:t>
            </a:r>
            <a:r>
              <a:rPr lang="fr-FR" baseline="0" dirty="0" smtClean="0"/>
              <a:t> entre 15 et 14 ans avec un taux de 13,8% contre une moyenne </a:t>
            </a:r>
            <a:r>
              <a:rPr lang="fr-FR" baseline="0" dirty="0" err="1" smtClean="0"/>
              <a:t>régio</a:t>
            </a:r>
            <a:r>
              <a:rPr lang="fr-FR" baseline="0" dirty="0" smtClean="0"/>
              <a:t> de 5,4%</a:t>
            </a:r>
            <a:endParaRPr lang="fr-FR" baseline="0" dirty="0" smtClean="0"/>
          </a:p>
          <a:p>
            <a:r>
              <a:rPr lang="fr-FR" baseline="0" dirty="0" smtClean="0"/>
              <a:t>//      //                   //  dans le milieu urbain 11,1% contre 2,9% en milieu rural </a:t>
            </a:r>
            <a:endParaRPr lang="fr-FR" baseline="0" dirty="0" smtClean="0"/>
          </a:p>
          <a:p>
            <a:endParaRPr lang="fr-FR" baseline="0" dirty="0" smtClean="0"/>
          </a:p>
          <a:p>
            <a:endParaRPr lang="fr-FR" dirty="0" smtClean="0"/>
          </a:p>
          <a:p>
            <a:r>
              <a:rPr lang="fr-FR" dirty="0" smtClean="0"/>
              <a:t>Taux</a:t>
            </a:r>
            <a:r>
              <a:rPr lang="fr-FR" baseline="0" dirty="0" smtClean="0"/>
              <a:t> d’activité (femme, hommes) ( par diplôme) 2018 </a:t>
            </a:r>
            <a:endParaRPr lang="fr-FR" baseline="0" dirty="0" smtClean="0"/>
          </a:p>
          <a:p>
            <a:r>
              <a:rPr lang="fr-FR" baseline="0" dirty="0" smtClean="0"/>
              <a:t>65,1% chez les hommes et 23,2% chez les femmes</a:t>
            </a:r>
            <a:endParaRPr lang="fr-FR" baseline="0" dirty="0" smtClean="0"/>
          </a:p>
          <a:p>
            <a:r>
              <a:rPr lang="fr-FR" baseline="0" dirty="0" smtClean="0"/>
              <a:t>57,8% des actifs ne possèdent aucun diplôme, 29,4% ayant </a:t>
            </a:r>
            <a:r>
              <a:rPr lang="fr-FR" baseline="0" dirty="0" err="1" smtClean="0"/>
              <a:t>dip</a:t>
            </a:r>
            <a:r>
              <a:rPr lang="fr-FR" baseline="0" dirty="0" smtClean="0"/>
              <a:t> moyen et 12,8% un </a:t>
            </a:r>
            <a:r>
              <a:rPr lang="fr-FR" baseline="0" dirty="0" err="1" smtClean="0"/>
              <a:t>dip</a:t>
            </a:r>
            <a:r>
              <a:rPr lang="fr-FR" baseline="0" dirty="0" smtClean="0"/>
              <a:t> de </a:t>
            </a:r>
            <a:r>
              <a:rPr lang="fr-FR" baseline="0" dirty="0" err="1" smtClean="0"/>
              <a:t>niv</a:t>
            </a:r>
            <a:r>
              <a:rPr lang="fr-FR" baseline="0" dirty="0" smtClean="0"/>
              <a:t> sup</a:t>
            </a:r>
            <a:endParaRPr lang="fr-FR" baseline="0" dirty="0" smtClean="0"/>
          </a:p>
          <a:p>
            <a:endParaRPr lang="fr-FR" baseline="0" dirty="0" smtClean="0"/>
          </a:p>
          <a:p>
            <a:r>
              <a:rPr lang="fr-FR" baseline="0" dirty="0" smtClean="0"/>
              <a:t>Taux des </a:t>
            </a:r>
            <a:r>
              <a:rPr lang="fr-FR" baseline="0" dirty="0" err="1" smtClean="0"/>
              <a:t>neets</a:t>
            </a:r>
            <a:r>
              <a:rPr lang="fr-FR" baseline="0" dirty="0" smtClean="0"/>
              <a:t> est de 43,7% chez les filles contre 7,6% chez les garçons ( la majorité des filles de cette catégories sont des femmes au foyer)</a:t>
            </a:r>
            <a:endParaRPr lang="fr-FR" baseline="0" dirty="0" smtClean="0"/>
          </a:p>
          <a:p>
            <a:endParaRPr lang="fr-FR" baseline="0" dirty="0" smtClean="0"/>
          </a:p>
          <a:p>
            <a:endParaRPr lang="fr-FR" baseline="0" dirty="0" smtClean="0"/>
          </a:p>
          <a:p>
            <a:r>
              <a:rPr lang="fr-FR" baseline="0" dirty="0" smtClean="0"/>
              <a:t>Taux d’emploi ( par secteur)</a:t>
            </a:r>
            <a:endParaRPr lang="fr-FR" baseline="0" dirty="0" smtClean="0"/>
          </a:p>
          <a:p>
            <a:r>
              <a:rPr lang="fr-FR" baseline="0" dirty="0" smtClean="0"/>
              <a:t>Taux de chômage ( par sexe, par diplôme)</a:t>
            </a:r>
            <a:endParaRPr lang="fr-FR" baseline="0" dirty="0" smtClean="0"/>
          </a:p>
          <a:p>
            <a:r>
              <a:rPr lang="fr-FR" baseline="0" dirty="0" smtClean="0"/>
              <a:t>Taux des NEET’S PAR sexe</a:t>
            </a:r>
            <a:endParaRPr lang="fr-FR" baseline="0" dirty="0" smtClean="0"/>
          </a:p>
          <a:p>
            <a:r>
              <a:rPr lang="fr-FR" baseline="0" dirty="0" smtClean="0"/>
              <a:t> </a:t>
            </a:r>
            <a:endParaRPr lang="fr-FR" baseline="0" dirty="0" smtClean="0"/>
          </a:p>
          <a:p>
            <a:pPr algn="ctr"/>
            <a:endParaRPr lang="fr-FR" baseline="0" dirty="0" smtClean="0"/>
          </a:p>
          <a:p>
            <a:endParaRPr lang="fr-FR" baseline="0" dirty="0" smtClean="0"/>
          </a:p>
          <a:p>
            <a:endParaRPr lang="fr-FR" baseline="0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>
                <a:solidFill>
                  <a:srgbClr val="000000"/>
                </a:solidFill>
              </a:rPr>
            </a:fld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endParaRPr lang="fr-FR" baseline="0" dirty="0" smtClean="0"/>
          </a:p>
          <a:p>
            <a:endParaRPr lang="fr-FR" baseline="0" dirty="0" smtClean="0"/>
          </a:p>
          <a:p>
            <a:endParaRPr lang="fr-FR" baseline="0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>
                <a:solidFill>
                  <a:srgbClr val="000000"/>
                </a:solidFill>
              </a:rPr>
            </a:fld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aseline="0" dirty="0" smtClean="0"/>
          </a:p>
          <a:p>
            <a:endParaRPr lang="fr-FR" baseline="0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>
                <a:solidFill>
                  <a:srgbClr val="000000"/>
                </a:solidFill>
              </a:rPr>
            </a:fld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aseline="0" dirty="0" smtClean="0"/>
              <a:t>Variable qualitative dichotomique</a:t>
            </a:r>
            <a:endParaRPr lang="fr-FR" baseline="0" dirty="0" smtClean="0"/>
          </a:p>
          <a:p>
            <a:endParaRPr lang="fr-FR" baseline="0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>
                <a:solidFill>
                  <a:srgbClr val="000000"/>
                </a:solidFill>
              </a:rPr>
            </a:fld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aseline="0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>
                <a:solidFill>
                  <a:srgbClr val="000000"/>
                </a:solidFill>
              </a:rPr>
            </a:fld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aseline="0" dirty="0" err="1" smtClean="0"/>
              <a:t>Ofppt</a:t>
            </a:r>
            <a:r>
              <a:rPr lang="fr-FR" baseline="0" dirty="0" smtClean="0"/>
              <a:t>: office de la formation professionnelle et de la promotion du travail</a:t>
            </a:r>
            <a:endParaRPr lang="fr-FR" baseline="0" dirty="0" smtClean="0"/>
          </a:p>
          <a:p>
            <a:endParaRPr lang="fr-FR" baseline="0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>
                <a:solidFill>
                  <a:srgbClr val="000000"/>
                </a:solidFill>
              </a:rPr>
            </a:fld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aseline="0" dirty="0" smtClean="0"/>
              <a:t>Distinction entre var qualitatives et quantitatives </a:t>
            </a:r>
            <a:endParaRPr lang="fr-FR" baseline="0" dirty="0" smtClean="0"/>
          </a:p>
          <a:p>
            <a:endParaRPr lang="fr-FR" baseline="0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>
                <a:solidFill>
                  <a:srgbClr val="000000"/>
                </a:solidFill>
              </a:rPr>
            </a:fld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P</a:t>
            </a:r>
            <a:r>
              <a:rPr lang="fr-FR" baseline="0" dirty="0" smtClean="0"/>
              <a:t> </a:t>
            </a:r>
            <a:r>
              <a:rPr lang="fr-FR" baseline="0" dirty="0" err="1" smtClean="0"/>
              <a:t>inf</a:t>
            </a:r>
            <a:r>
              <a:rPr lang="fr-FR" baseline="0" dirty="0" smtClean="0"/>
              <a:t> à 0,05 donc on rejette H0 donc On accepte H1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>
                <a:solidFill>
                  <a:srgbClr val="000000"/>
                </a:solidFill>
              </a:rPr>
            </a:fld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Les</a:t>
            </a:r>
            <a:r>
              <a:rPr lang="fr-FR" baseline="0" dirty="0" smtClean="0"/>
              <a:t> valeurs concernant la déviance résiduelle sont concentrées autour de 0 et un peu prés asymétriques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>
                <a:solidFill>
                  <a:srgbClr val="000000"/>
                </a:solidFill>
              </a:rPr>
            </a:fld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Dans ce modèle, les variables qui influencent l’AEMP</a:t>
            </a:r>
            <a:r>
              <a:rPr lang="fr-FR" baseline="0" dirty="0" smtClean="0"/>
              <a:t> sont: l’</a:t>
            </a:r>
            <a:r>
              <a:rPr lang="fr-FR" baseline="0" dirty="0" err="1" smtClean="0"/>
              <a:t>age</a:t>
            </a:r>
            <a:r>
              <a:rPr lang="fr-FR" baseline="0" dirty="0" smtClean="0"/>
              <a:t>, nivform2: Qualification, DOMFORM 2 ET 3 et 7: textile IMME et santé </a:t>
            </a:r>
            <a:endParaRPr lang="fr-FR" baseline="0" dirty="0" smtClean="0"/>
          </a:p>
          <a:p>
            <a:r>
              <a:rPr lang="fr-FR" baseline="0" dirty="0" smtClean="0"/>
              <a:t>OPFORM2: l’opérateur de formation privé </a:t>
            </a:r>
            <a:endParaRPr lang="fr-FR" baseline="0" dirty="0" smtClean="0"/>
          </a:p>
          <a:p>
            <a:r>
              <a:rPr lang="fr-FR" baseline="0" dirty="0" smtClean="0"/>
              <a:t>***: 0,1%</a:t>
            </a:r>
            <a:endParaRPr lang="fr-FR" baseline="0" dirty="0" smtClean="0"/>
          </a:p>
          <a:p>
            <a:r>
              <a:rPr lang="fr-FR" baseline="0" dirty="0" smtClean="0"/>
              <a:t>**: 1%</a:t>
            </a:r>
            <a:endParaRPr lang="fr-FR" baseline="0" dirty="0" smtClean="0"/>
          </a:p>
          <a:p>
            <a:r>
              <a:rPr lang="fr-FR" baseline="0" dirty="0" smtClean="0"/>
              <a:t>*: 5% </a:t>
            </a:r>
            <a:endParaRPr lang="fr-FR" baseline="0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>
                <a:solidFill>
                  <a:srgbClr val="000000"/>
                </a:solidFill>
              </a:rPr>
            </a:fld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Après l’élimination des variables non significatives à</a:t>
            </a:r>
            <a:r>
              <a:rPr lang="fr-FR" baseline="0" dirty="0" smtClean="0"/>
              <a:t> savoir: le sexe, le milieu de résidence, la situation familiale et l’ancienneté du </a:t>
            </a:r>
            <a:r>
              <a:rPr lang="fr-FR" baseline="0" dirty="0" err="1" smtClean="0"/>
              <a:t>dip</a:t>
            </a:r>
            <a:r>
              <a:rPr lang="fr-FR" baseline="0" dirty="0" smtClean="0"/>
              <a:t>, chose qui confirme ce que l’on a trouvé </a:t>
            </a:r>
            <a:r>
              <a:rPr lang="fr-FR" baseline="0" dirty="0" err="1" smtClean="0"/>
              <a:t>pr</a:t>
            </a:r>
            <a:r>
              <a:rPr lang="fr-FR" baseline="0" dirty="0" smtClean="0"/>
              <a:t> le résultat de la corrélation entre la variable </a:t>
            </a:r>
            <a:r>
              <a:rPr lang="fr-FR" baseline="0" dirty="0" err="1" smtClean="0"/>
              <a:t>age</a:t>
            </a:r>
            <a:r>
              <a:rPr lang="fr-FR" baseline="0" dirty="0" smtClean="0"/>
              <a:t> et </a:t>
            </a:r>
            <a:r>
              <a:rPr lang="fr-FR" baseline="0" dirty="0" err="1" smtClean="0"/>
              <a:t>ancdip</a:t>
            </a:r>
            <a:r>
              <a:rPr lang="fr-FR" baseline="0" dirty="0" smtClean="0"/>
              <a:t>, on obtient le résultat suivant: </a:t>
            </a:r>
            <a:endParaRPr lang="fr-FR" baseline="0" dirty="0" smtClean="0"/>
          </a:p>
          <a:p>
            <a:r>
              <a:rPr lang="fr-FR" baseline="0" dirty="0" smtClean="0"/>
              <a:t>Les variables qui apparaissent significatives et qui </a:t>
            </a:r>
            <a:r>
              <a:rPr lang="fr-FR" baseline="0" dirty="0" err="1" smtClean="0"/>
              <a:t>détermiment</a:t>
            </a:r>
            <a:r>
              <a:rPr lang="fr-FR" baseline="0" dirty="0" smtClean="0"/>
              <a:t> l’accès à l’emploi chez les diplômés de la </a:t>
            </a:r>
            <a:r>
              <a:rPr lang="fr-FR" baseline="0" dirty="0" err="1" smtClean="0"/>
              <a:t>fp</a:t>
            </a:r>
            <a:r>
              <a:rPr lang="fr-FR" baseline="0" dirty="0" smtClean="0"/>
              <a:t> sont: l’</a:t>
            </a:r>
            <a:r>
              <a:rPr lang="fr-FR" baseline="0" dirty="0" err="1" smtClean="0"/>
              <a:t>age</a:t>
            </a:r>
            <a:r>
              <a:rPr lang="fr-FR" baseline="0" dirty="0" smtClean="0"/>
              <a:t>, la 2eme modalité du </a:t>
            </a:r>
            <a:r>
              <a:rPr lang="fr-FR" baseline="0" dirty="0" err="1" smtClean="0"/>
              <a:t>niv</a:t>
            </a:r>
            <a:r>
              <a:rPr lang="fr-FR" baseline="0" dirty="0" smtClean="0"/>
              <a:t> de </a:t>
            </a:r>
            <a:r>
              <a:rPr lang="fr-FR" baseline="0" dirty="0" err="1" smtClean="0"/>
              <a:t>form</a:t>
            </a:r>
            <a:r>
              <a:rPr lang="fr-FR" baseline="0" dirty="0" smtClean="0"/>
              <a:t>: qualification, La 2eme et 3eme modalité de la variable dom de formation à savoir: les IMME (industrie métallurgique, mécanique et </a:t>
            </a:r>
            <a:r>
              <a:rPr lang="fr-FR" baseline="0" dirty="0" err="1" smtClean="0"/>
              <a:t>electromécanique</a:t>
            </a:r>
            <a:r>
              <a:rPr lang="fr-FR" baseline="0" dirty="0" smtClean="0"/>
              <a:t>) et le textile ainsi que la 2eme et 3eme modalité de l’opérateur de formation qui sont: l’opérateur privé et l’opérateur public payant </a:t>
            </a:r>
            <a:endParaRPr lang="fr-FR" baseline="0" dirty="0" smtClean="0"/>
          </a:p>
          <a:p>
            <a:r>
              <a:rPr lang="fr-FR" baseline="0" dirty="0" smtClean="0"/>
              <a:t>Ce que l’on peut remarquer ici , </a:t>
            </a:r>
            <a:r>
              <a:rPr lang="fr-FR" baseline="0" dirty="0" err="1" smtClean="0"/>
              <a:t>cest</a:t>
            </a:r>
            <a:r>
              <a:rPr lang="fr-FR" baseline="0" dirty="0" smtClean="0"/>
              <a:t> que les variables ( niveau de </a:t>
            </a:r>
            <a:r>
              <a:rPr lang="fr-FR" baseline="0" dirty="0" err="1" smtClean="0"/>
              <a:t>form</a:t>
            </a:r>
            <a:r>
              <a:rPr lang="fr-FR" baseline="0" dirty="0" smtClean="0"/>
              <a:t> de qualification) et les deux domaines de formation textile et IMME sont les plus significatives à une </a:t>
            </a:r>
            <a:r>
              <a:rPr lang="fr-FR" baseline="0" dirty="0" err="1" smtClean="0"/>
              <a:t>tolérence</a:t>
            </a:r>
            <a:r>
              <a:rPr lang="fr-FR" baseline="0" dirty="0" smtClean="0"/>
              <a:t> d’erreur minime de 0,1% .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>
                <a:solidFill>
                  <a:srgbClr val="000000"/>
                </a:solidFill>
              </a:rPr>
            </a:fld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>
                <a:solidFill>
                  <a:srgbClr val="000000"/>
                </a:solidFill>
              </a:rPr>
            </a:fld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>
                <a:solidFill>
                  <a:srgbClr val="000000"/>
                </a:solidFill>
              </a:rPr>
            </a:fld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L’âge affecte positivement</a:t>
            </a:r>
            <a:r>
              <a:rPr lang="fr-FR" baseline="0" dirty="0" smtClean="0"/>
              <a:t> l’accès à l’emploi, ( pour chaque année de plus , la probabilité d’accéder à l’emploi augmente de 16%).</a:t>
            </a:r>
            <a:endParaRPr lang="fr-FR" baseline="0" dirty="0" smtClean="0"/>
          </a:p>
          <a:p>
            <a:r>
              <a:rPr lang="fr-FR" baseline="0" dirty="0" smtClean="0"/>
              <a:t>Le niveau qualification est aussi associé positivement à l’accès à l’emploi, un diplômé du niveau qualifié à plus de chance de 4% d’</a:t>
            </a:r>
            <a:r>
              <a:rPr lang="fr-FR" baseline="0" dirty="0" err="1" smtClean="0"/>
              <a:t>etre</a:t>
            </a:r>
            <a:r>
              <a:rPr lang="fr-FR" baseline="0" dirty="0" smtClean="0"/>
              <a:t> employé, que les autres diplômés. </a:t>
            </a:r>
            <a:endParaRPr lang="fr-FR" baseline="0" dirty="0" smtClean="0"/>
          </a:p>
          <a:p>
            <a:r>
              <a:rPr lang="fr-FR" baseline="0" dirty="0" smtClean="0"/>
              <a:t>Pour les domaines de formation  </a:t>
            </a:r>
            <a:endParaRPr lang="fr-FR" baseline="0" dirty="0" smtClean="0"/>
          </a:p>
          <a:p>
            <a:endParaRPr lang="fr-FR" baseline="0" dirty="0" smtClean="0"/>
          </a:p>
          <a:p>
            <a:r>
              <a:rPr lang="fr-FR" baseline="0" dirty="0" smtClean="0"/>
              <a:t>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>
                <a:solidFill>
                  <a:srgbClr val="000000"/>
                </a:solidFill>
              </a:rPr>
            </a:fld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baseline="0" dirty="0" smtClean="0"/>
          </a:p>
          <a:p>
            <a:r>
              <a:rPr lang="fr-FR" baseline="0" dirty="0" smtClean="0"/>
              <a:t>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>
                <a:solidFill>
                  <a:srgbClr val="000000"/>
                </a:solidFill>
              </a:rPr>
            </a:fld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P</a:t>
            </a:r>
            <a:r>
              <a:rPr lang="fr-FR" baseline="0" dirty="0" smtClean="0"/>
              <a:t> </a:t>
            </a:r>
            <a:r>
              <a:rPr lang="fr-FR" baseline="0" dirty="0" err="1" smtClean="0"/>
              <a:t>inf</a:t>
            </a:r>
            <a:r>
              <a:rPr lang="fr-FR" baseline="0" dirty="0" smtClean="0"/>
              <a:t> à 0,05 donc on rejette H0 donc On accepte H1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>
                <a:solidFill>
                  <a:srgbClr val="000000"/>
                </a:solidFill>
              </a:rPr>
            </a:fld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Contribution</a:t>
            </a:r>
            <a:r>
              <a:rPr lang="fr-FR" baseline="0" dirty="0" smtClean="0"/>
              <a:t> du </a:t>
            </a:r>
            <a:r>
              <a:rPr lang="fr-FR" baseline="0" dirty="0" err="1" smtClean="0"/>
              <a:t>pib</a:t>
            </a:r>
            <a:r>
              <a:rPr lang="fr-FR" baseline="0" dirty="0" smtClean="0"/>
              <a:t> industriel : </a:t>
            </a:r>
            <a:endParaRPr lang="fr-FR" baseline="0" dirty="0" smtClean="0"/>
          </a:p>
          <a:p>
            <a:r>
              <a:rPr lang="fr-FR" baseline="0" dirty="0" smtClean="0"/>
              <a:t>Taux de chômage: T1 : 4,5% T2: 6,9 %, T3: 14%</a:t>
            </a:r>
            <a:endParaRPr lang="fr-FR" baseline="0" dirty="0" smtClean="0"/>
          </a:p>
          <a:p>
            <a:r>
              <a:rPr lang="fr-FR" baseline="0" dirty="0" smtClean="0"/>
              <a:t>PIB ( industrie): 14,4%; </a:t>
            </a:r>
            <a:r>
              <a:rPr lang="fr-FR" baseline="0" dirty="0" err="1" smtClean="0"/>
              <a:t>agricul</a:t>
            </a:r>
            <a:r>
              <a:rPr lang="fr-FR" baseline="0" dirty="0" smtClean="0"/>
              <a:t>: 20,3%, Tertiaire: 52,4% 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>
                <a:solidFill>
                  <a:srgbClr val="000000"/>
                </a:solidFill>
              </a:rPr>
            </a:fld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smtClean="0"/>
              <a:t>Ces mesures visent à créer des </a:t>
            </a:r>
            <a:r>
              <a:rPr lang="fr-FR" dirty="0" err="1" smtClean="0"/>
              <a:t>opprtunités</a:t>
            </a:r>
            <a:r>
              <a:rPr lang="fr-FR" dirty="0" smtClean="0"/>
              <a:t> d’emploi dans le domaine du textile et des IMME  et réduire la proportion des chômeurs</a:t>
            </a:r>
            <a:r>
              <a:rPr lang="fr-FR" baseline="0" dirty="0" smtClean="0"/>
              <a:t> </a:t>
            </a:r>
            <a:r>
              <a:rPr lang="fr-FR" dirty="0" smtClean="0"/>
              <a:t>notamment pour les primo </a:t>
            </a:r>
            <a:r>
              <a:rPr lang="fr-FR" dirty="0" err="1" smtClean="0"/>
              <a:t>demnadeurs</a:t>
            </a:r>
            <a:r>
              <a:rPr lang="fr-FR" dirty="0" smtClean="0"/>
              <a:t> d ‘emploi </a:t>
            </a:r>
            <a:r>
              <a:rPr lang="fr-FR" dirty="0" err="1" smtClean="0"/>
              <a:t>diplpomés</a:t>
            </a:r>
            <a:r>
              <a:rPr lang="fr-FR" dirty="0" smtClean="0"/>
              <a:t> de la formation professionnelle, </a:t>
            </a:r>
            <a:endParaRPr lang="fr-FR" dirty="0" smtClean="0"/>
          </a:p>
          <a:p>
            <a:endParaRPr lang="fr-FR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fr-FR" baseline="0" dirty="0" smtClean="0"/>
              <a:t>PIB ( industrie): 14,4%; </a:t>
            </a:r>
            <a:r>
              <a:rPr lang="fr-FR" baseline="0" dirty="0" err="1" smtClean="0"/>
              <a:t>agricul</a:t>
            </a:r>
            <a:r>
              <a:rPr lang="fr-FR" baseline="0" dirty="0" smtClean="0"/>
              <a:t>: 20,3%, Tertiaire: 52,4%  en 2018 </a:t>
            </a:r>
            <a:endParaRPr lang="fr-FR" dirty="0" smtClean="0"/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95F8DC6-12DF-4753-BA13-E49090E18351}" type="slidenum">
              <a:rPr lang="fr-FR" altLang="fr-FR" smtClean="0">
                <a:solidFill>
                  <a:srgbClr val="000000"/>
                </a:solidFill>
              </a:rPr>
            </a:fld>
            <a:endParaRPr lang="fr-FR" altLang="fr-FR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pic>
          <p:nvPicPr>
            <p:cNvPr id="5" name="Picture 3" descr="contenu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 userDrawn="1"/>
          </p:nvSpPr>
          <p:spPr bwMode="auto">
            <a:xfrm>
              <a:off x="2200" y="4103"/>
              <a:ext cx="1360" cy="19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fr-FR" altLang="fr-FR" sz="1400" b="1" smtClean="0">
                  <a:latin typeface="Century Gothic" panose="020B0502020202020204" pitchFamily="34" charset="0"/>
                </a:rPr>
                <a:t>www.hcp.ma</a:t>
              </a:r>
              <a:endParaRPr lang="fr-FR" altLang="fr-FR" sz="1400" b="1" smtClean="0">
                <a:latin typeface="Century Gothic" panose="020B0502020202020204" pitchFamily="34" charset="0"/>
              </a:endParaRPr>
            </a:p>
          </p:txBody>
        </p:sp>
      </p:grp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3419475" y="6453188"/>
            <a:ext cx="1873250" cy="366712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endParaRPr lang="fr-FR" altLang="fr-FR" sz="1800" smtClean="0"/>
          </a:p>
        </p:txBody>
      </p:sp>
      <p:sp>
        <p:nvSpPr>
          <p:cNvPr id="7173" name="Rectangle 5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FR"/>
          </a:p>
        </p:txBody>
      </p:sp>
      <p:sp>
        <p:nvSpPr>
          <p:cNvPr id="7174" name="Rectangle 6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z="2800" b="1">
                <a:solidFill>
                  <a:srgbClr val="F18E00"/>
                </a:solidFill>
              </a:defRPr>
            </a:lvl1pPr>
          </a:lstStyle>
          <a:p>
            <a:r>
              <a:rPr lang="fr-FR"/>
              <a:t>Cliquez pour modifier le style des sous-titres du masque</a:t>
            </a:r>
            <a:endParaRPr lang="fr-FR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dt" sz="half" idx="10"/>
          </p:nvPr>
        </p:nvSpPr>
        <p:spPr>
          <a:xfrm>
            <a:off x="104775" y="6513513"/>
            <a:ext cx="992188" cy="274637"/>
          </a:xfrm>
        </p:spPr>
        <p:txBody>
          <a:bodyPr/>
          <a:lstStyle>
            <a:lvl1pPr algn="r" rtl="1">
              <a:defRPr/>
            </a:lvl1pPr>
          </a:lstStyle>
          <a:p>
            <a:pPr>
              <a:defRPr/>
            </a:pPr>
            <a:fld id="{6ACAD1A6-ECDE-4B0C-924E-8C0FF9C12766}" type="datetime1">
              <a:rPr lang="fr-FR"/>
            </a:fld>
            <a:endParaRPr lang="fr-FR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737475" y="6513513"/>
            <a:ext cx="1385888" cy="31908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5B007A-B81D-4547-9BCC-F06229E21BC4}" type="slidenum">
              <a:rPr lang="fr-FR" altLang="fr-FR"/>
            </a:fld>
            <a:endParaRPr lang="fr-FR" altLang="fr-FR"/>
          </a:p>
        </p:txBody>
      </p:sp>
    </p:spTree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pic>
          <p:nvPicPr>
            <p:cNvPr id="5" name="Picture 3" descr="contenu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 userDrawn="1"/>
          </p:nvSpPr>
          <p:spPr bwMode="auto">
            <a:xfrm>
              <a:off x="2200" y="4103"/>
              <a:ext cx="1360" cy="19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fr-FR" altLang="fr-FR" sz="1400" b="1" smtClean="0">
                  <a:latin typeface="Century Gothic" panose="020B0502020202020204" pitchFamily="34" charset="0"/>
                </a:rPr>
                <a:t>www.hcp.ma</a:t>
              </a:r>
              <a:endParaRPr lang="fr-FR" altLang="fr-FR" sz="1400" b="1" smtClean="0">
                <a:latin typeface="Century Gothic" panose="020B0502020202020204" pitchFamily="34" charset="0"/>
              </a:endParaRPr>
            </a:p>
          </p:txBody>
        </p:sp>
      </p:grp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C9E9CA-74AF-46EE-9B5D-850F8EF978AE}" type="datetime1">
              <a:rPr lang="fr-FR"/>
            </a:fld>
            <a:endParaRPr lang="fr-FR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C86344-45BE-4D23-A32D-FA2D8729EDC4}" type="slidenum">
              <a:rPr lang="fr-FR" altLang="fr-FR"/>
            </a:fld>
            <a:endParaRPr lang="fr-FR" altLang="fr-FR"/>
          </a:p>
        </p:txBody>
      </p:sp>
    </p:spTree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pic>
          <p:nvPicPr>
            <p:cNvPr id="6" name="Picture 3" descr="contenu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" name="Text Box 4"/>
            <p:cNvSpPr txBox="1">
              <a:spLocks noChangeArrowheads="1"/>
            </p:cNvSpPr>
            <p:nvPr userDrawn="1"/>
          </p:nvSpPr>
          <p:spPr bwMode="auto">
            <a:xfrm>
              <a:off x="2200" y="4103"/>
              <a:ext cx="1360" cy="19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fr-FR" altLang="fr-FR" sz="1400" b="1" smtClean="0">
                  <a:latin typeface="Century Gothic" panose="020B0502020202020204" pitchFamily="34" charset="0"/>
                </a:rPr>
                <a:t>www.hcp.ma</a:t>
              </a:r>
              <a:endParaRPr lang="fr-FR" altLang="fr-FR" sz="1400" b="1" smtClean="0">
                <a:latin typeface="Century Gothic" panose="020B0502020202020204" pitchFamily="34" charset="0"/>
              </a:endParaRPr>
            </a:p>
          </p:txBody>
        </p:sp>
      </p:grp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2133600"/>
            <a:ext cx="4038600" cy="3992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2133600"/>
            <a:ext cx="4038600" cy="39925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1B4D59-FB73-42AD-B937-0CC4571EEB86}" type="datetime1">
              <a:rPr lang="fr-FR"/>
            </a:fld>
            <a:endParaRPr lang="fr-FR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DA7E43-962C-4DAD-B6A7-EE3C78075F1C}" type="slidenum">
              <a:rPr lang="fr-FR" altLang="fr-FR"/>
            </a:fld>
            <a:endParaRPr lang="fr-FR" altLang="fr-FR"/>
          </a:p>
        </p:txBody>
      </p:sp>
    </p:spTree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re et tablea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pic>
          <p:nvPicPr>
            <p:cNvPr id="5" name="Picture 3" descr="contenu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5760" cy="43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" name="Text Box 4"/>
            <p:cNvSpPr txBox="1">
              <a:spLocks noChangeArrowheads="1"/>
            </p:cNvSpPr>
            <p:nvPr userDrawn="1"/>
          </p:nvSpPr>
          <p:spPr bwMode="auto">
            <a:xfrm>
              <a:off x="2200" y="4103"/>
              <a:ext cx="1360" cy="192"/>
            </a:xfrm>
            <a:prstGeom prst="rect">
              <a:avLst/>
            </a:prstGeom>
            <a:noFill/>
            <a:ln>
              <a:noFill/>
            </a:ln>
          </p:spPr>
          <p:txBody>
            <a:bodyPr>
              <a:spAutoFit/>
            </a:bodyPr>
            <a:lstStyle>
              <a:lvl1pPr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 eaLnBrk="0" hangingPunct="0"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rgbClr val="F18E00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r>
                <a:rPr lang="fr-FR" altLang="fr-FR" sz="1400" b="1" smtClean="0">
                  <a:latin typeface="Century Gothic" panose="020B0502020202020204" pitchFamily="34" charset="0"/>
                </a:rPr>
                <a:t>www.hcp.ma</a:t>
              </a:r>
              <a:endParaRPr lang="fr-FR" altLang="fr-FR" sz="1400" b="1" smtClean="0">
                <a:latin typeface="Century Gothic" panose="020B0502020202020204" pitchFamily="34" charset="0"/>
              </a:endParaRPr>
            </a:p>
          </p:txBody>
        </p:sp>
      </p:grp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187450" y="765175"/>
            <a:ext cx="6985000" cy="1143000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457200" y="2133600"/>
            <a:ext cx="8229600" cy="3992563"/>
          </a:xfrm>
        </p:spPr>
        <p:txBody>
          <a:bodyPr/>
          <a:lstStyle/>
          <a:p>
            <a:pPr lvl="0"/>
            <a:endParaRPr lang="fr-FR" noProof="0" smtClean="0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78BE58-88F7-4EE7-84CC-37EBFA388003}" type="datetime1">
              <a:rPr lang="fr-FR"/>
            </a:fld>
            <a:endParaRPr lang="fr-FR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A1441D-9FEF-4DBA-9DE1-86284F3E863F}" type="slidenum">
              <a:rPr lang="fr-FR" altLang="fr-FR"/>
            </a:fld>
            <a:endParaRPr lang="fr-FR" altLang="fr-FR"/>
          </a:p>
        </p:txBody>
      </p:sp>
    </p:spTree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image" Target="../media/image4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1187450" y="765175"/>
            <a:ext cx="69850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fr-FR" altLang="fr-FR" smtClean="0"/>
              <a:t>Cliquez pour modifier le style du titre</a:t>
            </a:r>
            <a:endParaRPr lang="fr-FR" altLang="fr-FR" smtClean="0"/>
          </a:p>
        </p:txBody>
      </p:sp>
      <p:sp>
        <p:nvSpPr>
          <p:cNvPr id="1027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2133600"/>
            <a:ext cx="8229600" cy="399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fr-FR" altLang="fr-FR" smtClean="0"/>
              <a:t>Cliquez pour modifier les styles du texte du masque</a:t>
            </a:r>
            <a:endParaRPr lang="fr-FR" altLang="fr-FR" smtClean="0"/>
          </a:p>
          <a:p>
            <a:pPr lvl="1"/>
            <a:r>
              <a:rPr lang="fr-FR" altLang="fr-FR" smtClean="0"/>
              <a:t>Deuxième niveau</a:t>
            </a:r>
            <a:endParaRPr lang="fr-FR" altLang="fr-FR" smtClean="0"/>
          </a:p>
          <a:p>
            <a:pPr lvl="2"/>
            <a:r>
              <a:rPr lang="fr-FR" altLang="fr-FR" smtClean="0"/>
              <a:t>Troisième niveau</a:t>
            </a:r>
            <a:endParaRPr lang="fr-FR" altLang="fr-FR" smtClean="0"/>
          </a:p>
        </p:txBody>
      </p:sp>
      <p:sp>
        <p:nvSpPr>
          <p:cNvPr id="9" name="Rectangle 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513513"/>
            <a:ext cx="992188" cy="274637"/>
          </a:xfrm>
          <a:prstGeom prst="rect">
            <a:avLst/>
          </a:prstGeom>
          <a:ln>
            <a:miter lim="800000"/>
          </a:ln>
        </p:spPr>
        <p:txBody>
          <a:bodyPr vert="horz" wrap="none" lIns="91440" tIns="45720" rIns="91440" bIns="45720" numCol="1" anchor="ctr" anchorCtr="0" compatLnSpc="1">
            <a:spAutoFit/>
          </a:bodyPr>
          <a:lstStyle>
            <a:lvl1pPr eaLnBrk="1" hangingPunct="1">
              <a:defRPr sz="1200" b="1">
                <a:latin typeface="+mn-lt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379232E4-1EC7-4D3F-8AB8-677C8BBE5893}" type="datetime1">
              <a:rPr lang="fr-FR"/>
            </a:fld>
            <a:endParaRPr lang="fr-FR"/>
          </a:p>
        </p:txBody>
      </p:sp>
      <p:sp>
        <p:nvSpPr>
          <p:cNvPr id="1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737475" y="6513513"/>
            <a:ext cx="1385888" cy="320675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EA1C693F-7E99-4750-8546-5A9C8C74737F}" type="slidenum">
              <a:rPr lang="fr-FR" altLang="fr-FR"/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 dir="d"/>
  </p:transition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7B003B"/>
          </a:solidFill>
          <a:latin typeface="Arial" panose="020B060402020202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7B003B"/>
          </a:solidFill>
          <a:latin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7B003B"/>
          </a:solidFill>
          <a:latin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7B003B"/>
          </a:solidFill>
          <a:latin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7B003B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7B003B"/>
          </a:solidFill>
          <a:latin typeface="Edwardian Script ITC" panose="030303020407070D0804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7B003B"/>
          </a:solidFill>
          <a:latin typeface="Edwardian Script ITC" panose="030303020407070D0804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7B003B"/>
          </a:solidFill>
          <a:latin typeface="Edwardian Script ITC" panose="030303020407070D0804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7B003B"/>
          </a:solidFill>
          <a:latin typeface="Edwardian Script ITC" panose="030303020407070D0804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7B003B"/>
        </a:buClr>
        <a:buSzPct val="120000"/>
        <a:buBlip>
          <a:blip r:embed="rId5"/>
        </a:buBlip>
        <a:defRPr sz="2400">
          <a:solidFill>
            <a:schemeClr val="bg2"/>
          </a:solidFill>
          <a:latin typeface="Arial" panose="020B0604020202020204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18E00"/>
        </a:buClr>
        <a:buSzPct val="120000"/>
        <a:buFont typeface="Arial" panose="020B0604020202020204" pitchFamily="34" charset="0"/>
        <a:buBlip>
          <a:blip r:embed="rId6"/>
        </a:buBlip>
        <a:defRPr sz="2000">
          <a:solidFill>
            <a:schemeClr val="bg2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120000"/>
        <a:buBlip>
          <a:blip r:embed="rId7"/>
        </a:buBlip>
        <a:defRPr sz="1600">
          <a:solidFill>
            <a:schemeClr val="bg2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59632" y="1269008"/>
            <a:ext cx="6769100" cy="4824536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fr-FR" altLang="fr-FR" sz="1200" dirty="0" smtClean="0">
              <a:latin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fr-FR" altLang="fr-FR" sz="1200" dirty="0" smtClean="0">
              <a:latin typeface="Arial" panose="020B0604020202020204" pitchFamily="34" charset="0"/>
            </a:endParaRPr>
          </a:p>
          <a:p>
            <a:pPr algn="ctr" eaLnBrk="1" hangingPunct="1">
              <a:lnSpc>
                <a:spcPct val="80000"/>
              </a:lnSpc>
              <a:defRPr/>
            </a:pPr>
            <a:r>
              <a:rPr lang="fr-FR" sz="24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L’accès des diplômés de la formation professionnelle au marché du travail au niveau de la région Drâa-Tafilalet</a:t>
            </a:r>
            <a:endParaRPr lang="fr-FR" altLang="fr-FR" sz="2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80000"/>
              </a:lnSpc>
              <a:defRPr/>
            </a:pPr>
            <a:endParaRPr lang="fr-FR" altLang="fr-FR" sz="2600" dirty="0" smtClean="0">
              <a:solidFill>
                <a:srgbClr val="C00000"/>
              </a:solidFill>
              <a:latin typeface="Arial" panose="020B0604020202020204" pitchFamily="34" charset="0"/>
            </a:endParaRPr>
          </a:p>
          <a:p>
            <a:pPr algn="ctr" eaLnBrk="1" hangingPunct="1">
              <a:lnSpc>
                <a:spcPct val="80000"/>
              </a:lnSpc>
              <a:defRPr/>
            </a:pPr>
            <a:endParaRPr lang="fr-FR" sz="1400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 eaLnBrk="1" hangingPunct="1">
              <a:lnSpc>
                <a:spcPct val="80000"/>
              </a:lnSpc>
              <a:defRPr/>
            </a:pPr>
            <a:endParaRPr lang="fr-FR" sz="1400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 eaLnBrk="1" hangingPunct="1">
              <a:lnSpc>
                <a:spcPct val="80000"/>
              </a:lnSpc>
              <a:defRPr/>
            </a:pPr>
            <a:endParaRPr lang="fr-FR" sz="1400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 eaLnBrk="1" hangingPunct="1">
              <a:lnSpc>
                <a:spcPct val="80000"/>
              </a:lnSpc>
              <a:defRPr/>
            </a:pPr>
            <a:endParaRPr lang="fr-FR" sz="1400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 eaLnBrk="1" hangingPunct="1">
              <a:lnSpc>
                <a:spcPct val="80000"/>
              </a:lnSpc>
              <a:defRPr/>
            </a:pPr>
            <a:endParaRPr lang="fr-FR" sz="1600" dirty="0" smtClean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algn="ctr" eaLnBrk="1" hangingPunct="1">
              <a:lnSpc>
                <a:spcPct val="80000"/>
              </a:lnSpc>
              <a:defRPr/>
            </a:pPr>
            <a:r>
              <a:rPr lang="fr-FR" sz="16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Préparé par : KHAOULA ZAROUALE</a:t>
            </a:r>
            <a:endParaRPr lang="fr-FR" sz="16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80000"/>
              </a:lnSpc>
              <a:defRPr/>
            </a:pPr>
            <a:endParaRPr lang="fr-FR" sz="1400" dirty="0" smtClean="0">
              <a:solidFill>
                <a:schemeClr val="tx1"/>
              </a:solidFill>
            </a:endParaRPr>
          </a:p>
          <a:p>
            <a:pPr algn="ctr" eaLnBrk="1" hangingPunct="1">
              <a:lnSpc>
                <a:spcPct val="80000"/>
              </a:lnSpc>
              <a:defRPr/>
            </a:pPr>
            <a:endParaRPr lang="fr-FR" altLang="fr-FR" sz="1400" dirty="0" smtClean="0">
              <a:solidFill>
                <a:schemeClr val="accent6">
                  <a:lumMod val="60000"/>
                  <a:lumOff val="40000"/>
                </a:schemeClr>
              </a:solidFill>
              <a:latin typeface="Arial" panose="020B0604020202020204" pitchFamily="34" charset="0"/>
            </a:endParaRPr>
          </a:p>
          <a:p>
            <a:pPr algn="ctr" eaLnBrk="1" hangingPunct="1">
              <a:lnSpc>
                <a:spcPct val="80000"/>
              </a:lnSpc>
              <a:defRPr/>
            </a:pPr>
            <a:r>
              <a:rPr lang="fr-FR" sz="14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Conseil National de l’information statistique </a:t>
            </a:r>
            <a:endParaRPr lang="fr-FR" sz="14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80000"/>
              </a:lnSpc>
              <a:defRPr/>
            </a:pPr>
            <a:r>
              <a:rPr lang="fr-FR" sz="14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Haut commissarait au plan </a:t>
            </a:r>
            <a:endParaRPr lang="fr-FR" sz="1400" i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lnSpc>
                <a:spcPct val="80000"/>
              </a:lnSpc>
              <a:defRPr/>
            </a:pPr>
            <a:r>
              <a:rPr lang="fr-FR" sz="1400" i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Maroc</a:t>
            </a:r>
            <a:endParaRPr lang="fr-FR" altLang="fr-FR" sz="2600" dirty="0" smtClean="0">
              <a:solidFill>
                <a:srgbClr val="660033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fr-FR" altLang="fr-FR" sz="2600" dirty="0" smtClean="0">
              <a:solidFill>
                <a:srgbClr val="660033"/>
              </a:solidFill>
              <a:latin typeface="Arial" panose="020B0604020202020204" pitchFamily="34" charset="0"/>
            </a:endParaRPr>
          </a:p>
          <a:p>
            <a:pPr eaLnBrk="1" hangingPunct="1">
              <a:lnSpc>
                <a:spcPct val="80000"/>
              </a:lnSpc>
              <a:defRPr/>
            </a:pPr>
            <a:endParaRPr lang="fr-FR" altLang="fr-FR" sz="2600" dirty="0" smtClean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0" y="6525344"/>
            <a:ext cx="9144000" cy="33855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 dirty="0"/>
          </a:p>
        </p:txBody>
      </p:sp>
      <p:sp>
        <p:nvSpPr>
          <p:cNvPr id="7172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62EA94A6-2607-477F-B196-2C412EEA5C88}" type="slidenum">
              <a:rPr lang="fr-FR" altLang="fr-FR" sz="1200" smtClean="0"/>
            </a:fld>
            <a:endParaRPr lang="fr-FR" altLang="fr-FR" sz="1200" dirty="0" smtClean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395288" y="1557338"/>
            <a:ext cx="8229600" cy="47117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1257300" lvl="3">
              <a:spcBef>
                <a:spcPct val="20000"/>
              </a:spcBef>
              <a:defRPr/>
            </a:pPr>
            <a:endParaRPr lang="fr-FR" sz="2000" b="1" kern="0" dirty="0">
              <a:solidFill>
                <a:srgbClr val="800000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marL="609600" indent="-609600">
              <a:spcBef>
                <a:spcPct val="20000"/>
              </a:spcBef>
              <a:buClr>
                <a:srgbClr val="7B003B"/>
              </a:buClr>
              <a:buSzPct val="120000"/>
              <a:defRPr/>
            </a:pPr>
            <a:endParaRPr lang="fr-FR" sz="2400" b="1" kern="0" dirty="0">
              <a:solidFill>
                <a:srgbClr val="800000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marL="609600" indent="-609600">
              <a:spcBef>
                <a:spcPct val="20000"/>
              </a:spcBef>
              <a:buClr>
                <a:srgbClr val="7B003B"/>
              </a:buClr>
              <a:buSzPct val="120000"/>
              <a:buFont typeface="+mj-lt"/>
              <a:buAutoNum type="arabicPeriod"/>
              <a:defRPr/>
            </a:pPr>
            <a:endParaRPr lang="fr-FR" sz="2400" b="1" kern="0" dirty="0">
              <a:solidFill>
                <a:srgbClr val="800000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marL="609600" indent="-609600">
              <a:spcBef>
                <a:spcPct val="20000"/>
              </a:spcBef>
              <a:buClr>
                <a:srgbClr val="7B003B"/>
              </a:buClr>
              <a:buSzPct val="120000"/>
              <a:defRPr/>
            </a:pPr>
            <a:r>
              <a:rPr lang="fr-FR" sz="2400" b="1" kern="0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fr-FR" sz="2400" b="1" kern="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52450" indent="-552450">
              <a:spcBef>
                <a:spcPct val="20000"/>
              </a:spcBef>
              <a:buClr>
                <a:srgbClr val="7B003B"/>
              </a:buClr>
              <a:buSzPct val="120000"/>
              <a:buFont typeface="Wingdings" panose="05000000000000000000" pitchFamily="2" charset="2"/>
              <a:buNone/>
              <a:defRPr/>
            </a:pPr>
            <a:endParaRPr lang="fr-FR" sz="3300" b="1" kern="0" dirty="0">
              <a:solidFill>
                <a:schemeClr val="bg2"/>
              </a:solidFill>
              <a:ea typeface="SimSun" panose="02010600030101010101" pitchFamily="2" charset="-122"/>
              <a:cs typeface="+mn-cs"/>
            </a:endParaRPr>
          </a:p>
        </p:txBody>
      </p:sp>
      <p:sp>
        <p:nvSpPr>
          <p:cNvPr id="7174" name="ZoneTexte 7"/>
          <p:cNvSpPr txBox="1">
            <a:spLocks noChangeArrowheads="1"/>
          </p:cNvSpPr>
          <p:nvPr/>
        </p:nvSpPr>
        <p:spPr bwMode="auto">
          <a:xfrm>
            <a:off x="935596" y="1268760"/>
            <a:ext cx="7272808" cy="6647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fr-FR" sz="1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 - </a:t>
            </a:r>
            <a:r>
              <a:rPr lang="fr-FR" sz="1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marché du travail de la région Drâa-Tafilalet</a:t>
            </a:r>
            <a:endParaRPr lang="fr-FR" sz="1800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fr-F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Enquête Nationale sur l’Emploi</a:t>
            </a:r>
            <a:endParaRPr lang="fr-FR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fr-F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2- Défis et enjeux de l’emploi dans la région Drâa-Tafilalet</a:t>
            </a:r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fr-F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r>
              <a:rPr lang="fr-FR" sz="1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II- Les </a:t>
            </a:r>
            <a:r>
              <a:rPr lang="fr-FR" sz="18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déterminants de </a:t>
            </a:r>
            <a:r>
              <a:rPr lang="fr-FR" sz="1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l’accès à l’emploi chez les diplômés de la formation professionnelle de la région</a:t>
            </a:r>
            <a:endParaRPr lang="fr-FR" sz="1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fr-F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1-Caractéristiques de la formation </a:t>
            </a:r>
            <a:r>
              <a:rPr lang="fr-F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professionnelle au niveau </a:t>
            </a:r>
            <a:endParaRPr lang="fr-FR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de la région </a:t>
            </a:r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fr-F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Méthodologie de l’étude</a:t>
            </a:r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fr-F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</a:t>
            </a:r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 Résultats</a:t>
            </a:r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r>
              <a:rPr lang="fr-FR" sz="1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III- Création d’emplois au profits des diplômés de la formation           professionnelle de la région</a:t>
            </a:r>
            <a:endParaRPr lang="fr-FR" sz="1800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endParaRPr lang="fr-FR" sz="18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1- Arbre des problèmes</a:t>
            </a:r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fr-F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</a:t>
            </a:r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Arbre des solutions </a:t>
            </a:r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/>
            <a:endParaRPr lang="fr-FR" sz="18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fr-FR" sz="18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fr-FR" b="1" dirty="0"/>
          </a:p>
          <a:p>
            <a:pPr eaLnBrk="1" hangingPunct="1"/>
            <a:endParaRPr lang="fr-FR" b="1" dirty="0"/>
          </a:p>
          <a:p>
            <a:pPr eaLnBrk="1" hangingPunct="1"/>
            <a:r>
              <a:rPr lang="fr-FR" b="1" dirty="0"/>
              <a:t> </a:t>
            </a:r>
            <a:endParaRPr lang="ar-MA" dirty="0"/>
          </a:p>
        </p:txBody>
      </p:sp>
      <p:sp>
        <p:nvSpPr>
          <p:cNvPr id="3" name="ZoneTexte 2"/>
          <p:cNvSpPr txBox="1"/>
          <p:nvPr/>
        </p:nvSpPr>
        <p:spPr>
          <a:xfrm>
            <a:off x="0" y="6513513"/>
            <a:ext cx="9144000" cy="344487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1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1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1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1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17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1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17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1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17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1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17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17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17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17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17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17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17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 dirty="0"/>
          </a:p>
        </p:txBody>
      </p:sp>
      <p:sp>
        <p:nvSpPr>
          <p:cNvPr id="8195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F9F1D8-5B6E-499D-8B12-6D4FEC17DD21}" type="slidenum">
              <a:rPr lang="fr-FR" altLang="fr-FR" sz="1200" smtClean="0"/>
            </a:fld>
            <a:endParaRPr lang="fr-FR" altLang="fr-FR" sz="1200" dirty="0" smtClean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70575" y="2644489"/>
            <a:ext cx="8081042" cy="94495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85750" indent="-285750">
              <a:spcBef>
                <a:spcPct val="20000"/>
              </a:spcBef>
              <a:buSzPct val="120000"/>
              <a:buFont typeface="Wingdings" panose="05000000000000000000" pitchFamily="2" charset="2"/>
              <a:buChar char="Ø"/>
              <a:defRPr/>
            </a:pPr>
            <a:r>
              <a:rPr lang="fr-FR" sz="1800" b="1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Déterminer le volume et les caractéristiques démographiques, culturelles et socioprofessionnelle de la population active et ses différentes composantes;</a:t>
            </a:r>
            <a:endParaRPr lang="fr-FR" sz="1800" b="1" kern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SzPct val="120000"/>
              <a:defRPr/>
            </a:pPr>
            <a:endParaRPr lang="fr-FR" sz="1800" b="1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rgbClr val="7B003B"/>
              </a:buClr>
              <a:buSzPct val="120000"/>
              <a:defRPr/>
            </a:pPr>
            <a:endParaRPr lang="fr-FR" sz="1800" b="1" kern="0" dirty="0">
              <a:solidFill>
                <a:srgbClr val="800000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marL="609600" indent="-609600">
              <a:spcBef>
                <a:spcPct val="20000"/>
              </a:spcBef>
              <a:buClr>
                <a:srgbClr val="7B003B"/>
              </a:buClr>
              <a:buSzPct val="120000"/>
              <a:defRPr/>
            </a:pPr>
            <a:r>
              <a:rPr lang="fr-FR" sz="1800" b="1" kern="0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fr-FR" sz="1800" b="1" kern="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0" y="6513513"/>
            <a:ext cx="9144000" cy="3444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559411" y="1049507"/>
            <a:ext cx="612068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 Situation du marché de travail de la région Drâa-Tafilalet</a:t>
            </a:r>
            <a:endParaRPr lang="fr-FR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435416"/>
            <a:ext cx="404859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Enquête Nationale sur l’Emploi (ENE)</a:t>
            </a:r>
            <a:endParaRPr lang="fr-FR" sz="17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683568" y="2077645"/>
            <a:ext cx="3435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 de l’ENE</a:t>
            </a:r>
            <a:endParaRPr lang="fr-FR" sz="1800" b="1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559411" y="3429000"/>
            <a:ext cx="53087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Principaux thèmes du questionnaires de l’ENE</a:t>
            </a:r>
            <a:endParaRPr lang="fr-FR" sz="1800" b="1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537068" y="4000504"/>
            <a:ext cx="7995372" cy="393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ct val="20000"/>
              </a:spcBef>
              <a:buSzPct val="120000"/>
              <a:buFont typeface="Wingdings" panose="05000000000000000000" pitchFamily="2" charset="2"/>
              <a:buChar char="Ø"/>
              <a:defRPr/>
            </a:pPr>
            <a:r>
              <a:rPr lang="fr-FR" b="1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des membres des ménages et de leurs caractéristiques démographiques et culturelles;</a:t>
            </a:r>
            <a:endParaRPr lang="fr-FR" b="1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SzPct val="120000"/>
              <a:buFont typeface="Wingdings" panose="05000000000000000000" pitchFamily="2" charset="2"/>
              <a:buChar char="Ø"/>
              <a:defRPr/>
            </a:pPr>
            <a:r>
              <a:rPr lang="fr-FR" altLang="zh-CN" b="1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Caractéristiques de la population en chômage;</a:t>
            </a:r>
            <a:endParaRPr lang="fr-FR" altLang="zh-CN" b="1" kern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SzPct val="120000"/>
              <a:buFont typeface="Wingdings" panose="05000000000000000000" pitchFamily="2" charset="2"/>
              <a:buChar char="Ø"/>
              <a:defRPr/>
            </a:pPr>
            <a:r>
              <a:rPr lang="fr-FR" altLang="zh-CN" b="1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Caractéristiques professionnelles des principales activités des actifs;</a:t>
            </a:r>
            <a:endParaRPr lang="fr-FR" altLang="zh-CN" b="1" kern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SzPct val="120000"/>
              <a:buFont typeface="Wingdings" panose="05000000000000000000" pitchFamily="2" charset="2"/>
              <a:buChar char="Ø"/>
              <a:defRPr/>
            </a:pPr>
            <a:r>
              <a:rPr lang="fr-FR" altLang="zh-CN" b="1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Etudes du sous-emploi des personnes actives occupées.</a:t>
            </a:r>
            <a:endParaRPr lang="fr-FR" altLang="zh-CN" b="1" kern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SzPct val="120000"/>
              <a:buFont typeface="Wingdings" panose="05000000000000000000" pitchFamily="2" charset="2"/>
              <a:buChar char="Ø"/>
              <a:defRPr/>
            </a:pPr>
            <a:r>
              <a:rPr lang="fr-FR" altLang="zh-CN" b="1" kern="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Etude des salaires</a:t>
            </a:r>
            <a:endParaRPr lang="fr-FR" altLang="zh-CN" b="1" kern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SzPct val="120000"/>
              <a:buFont typeface="Wingdings" panose="05000000000000000000" pitchFamily="2" charset="2"/>
              <a:buChar char="Ø"/>
              <a:defRPr/>
            </a:pPr>
            <a:endParaRPr lang="fr-FR" altLang="zh-CN" b="1" kern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spcBef>
                <a:spcPct val="20000"/>
              </a:spcBef>
              <a:buSzPct val="120000"/>
              <a:buFont typeface="Wingdings" panose="05000000000000000000" pitchFamily="2" charset="2"/>
              <a:buChar char="Ø"/>
              <a:defRPr/>
            </a:pPr>
            <a:endParaRPr lang="fr-FR" altLang="zh-CN" b="1" kern="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20000"/>
              </a:spcBef>
              <a:buSzPct val="120000"/>
              <a:buFont typeface="Wingdings" panose="05000000000000000000" pitchFamily="2" charset="2"/>
              <a:buChar char="Ø"/>
              <a:defRPr/>
            </a:pPr>
            <a:endParaRPr lang="fr-FR" b="1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ct val="20000"/>
              </a:spcBef>
              <a:buSzPct val="120000"/>
              <a:buFont typeface="Wingdings" panose="05000000000000000000" pitchFamily="2" charset="2"/>
              <a:buChar char="Ø"/>
              <a:defRPr/>
            </a:pPr>
            <a:endParaRPr lang="fr-FR" b="1" kern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 dirty="0"/>
          </a:p>
        </p:txBody>
      </p:sp>
      <p:sp>
        <p:nvSpPr>
          <p:cNvPr id="8195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F9F1D8-5B6E-499D-8B12-6D4FEC17DD21}" type="slidenum">
              <a:rPr lang="fr-FR" altLang="fr-FR" sz="1200" smtClean="0"/>
            </a:fld>
            <a:endParaRPr lang="fr-FR" altLang="fr-FR" sz="1200" dirty="0" smtClean="0"/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 bwMode="auto">
          <a:xfrm>
            <a:off x="572390" y="2891143"/>
            <a:ext cx="1769177" cy="3524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/>
          <a:lstStyle/>
          <a:p>
            <a:pPr marL="285750" indent="-285750">
              <a:spcBef>
                <a:spcPct val="20000"/>
              </a:spcBef>
              <a:buSzPct val="120000"/>
              <a:buFont typeface="Wingdings" panose="05000000000000000000" pitchFamily="2" charset="2"/>
              <a:buChar char="Ø"/>
              <a:defRPr/>
            </a:pPr>
            <a:r>
              <a:rPr lang="fr-FR" b="1" kern="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Stratification</a:t>
            </a:r>
            <a:endParaRPr lang="fr-FR" b="1" kern="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rgbClr val="7B003B"/>
              </a:buClr>
              <a:buSzPct val="120000"/>
              <a:defRPr/>
            </a:pPr>
            <a:endParaRPr lang="fr-FR" sz="2400" b="1" kern="0" dirty="0">
              <a:solidFill>
                <a:srgbClr val="800000"/>
              </a:solidFill>
              <a:latin typeface="Book Antiqua" panose="02040602050305030304" pitchFamily="18" charset="0"/>
              <a:cs typeface="Times New Roman" panose="02020603050405020304" pitchFamily="18" charset="0"/>
            </a:endParaRPr>
          </a:p>
          <a:p>
            <a:pPr marL="609600" indent="-609600">
              <a:spcBef>
                <a:spcPct val="20000"/>
              </a:spcBef>
              <a:buClr>
                <a:srgbClr val="7B003B"/>
              </a:buClr>
              <a:buSzPct val="120000"/>
              <a:defRPr/>
            </a:pPr>
            <a:r>
              <a:rPr lang="fr-FR" sz="2400" b="1" kern="0" dirty="0">
                <a:solidFill>
                  <a:srgbClr val="8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fr-FR" sz="2400" b="1" kern="0" dirty="0">
              <a:solidFill>
                <a:srgbClr val="8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ZoneTexte 1"/>
          <p:cNvSpPr txBox="1"/>
          <p:nvPr/>
        </p:nvSpPr>
        <p:spPr>
          <a:xfrm>
            <a:off x="0" y="6513513"/>
            <a:ext cx="9144000" cy="3444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559411" y="1049507"/>
            <a:ext cx="612068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 Situation du marché de travail de la région Drâa-Tafilalet</a:t>
            </a:r>
            <a:endParaRPr lang="fr-FR" sz="17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435416"/>
            <a:ext cx="404859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Enquête Nationale sur l’Emploi (ENE)</a:t>
            </a:r>
            <a:endParaRPr lang="fr-FR" sz="17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683568" y="2153512"/>
            <a:ext cx="259228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 d’échantillonnage</a:t>
            </a:r>
            <a:endParaRPr lang="fr-FR" sz="1700" b="1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4860032" y="2153512"/>
            <a:ext cx="295232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Taille de l’échantillon</a:t>
            </a:r>
            <a:endParaRPr lang="fr-FR" sz="1700" b="1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au 2"/>
          <p:cNvGraphicFramePr>
            <a:graphicFrameLocks noGrp="1"/>
          </p:cNvGraphicFramePr>
          <p:nvPr/>
        </p:nvGraphicFramePr>
        <p:xfrm>
          <a:off x="3714744" y="3000372"/>
          <a:ext cx="4896548" cy="1061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24137"/>
                <a:gridCol w="1224137"/>
                <a:gridCol w="1224137"/>
                <a:gridCol w="1224137"/>
              </a:tblGrid>
              <a:tr h="149736">
                <a:tc>
                  <a:txBody>
                    <a:bodyPr/>
                    <a:lstStyle/>
                    <a:p>
                      <a:r>
                        <a:rPr lang="fr-FR" sz="1500" b="1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Province</a:t>
                      </a:r>
                      <a:endParaRPr lang="fr-FR" sz="15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Urbain</a:t>
                      </a:r>
                      <a:endParaRPr lang="fr-FR" sz="15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Rural</a:t>
                      </a:r>
                      <a:endParaRPr lang="fr-FR" sz="15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b="1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Total</a:t>
                      </a:r>
                      <a:endParaRPr lang="fr-FR" sz="1500" b="1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Région</a:t>
                      </a:r>
                      <a:endParaRPr lang="fr-FR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1433</a:t>
                      </a:r>
                      <a:endParaRPr lang="fr-FR" sz="15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1920</a:t>
                      </a:r>
                      <a:endParaRPr lang="fr-FR" sz="15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3353</a:t>
                      </a:r>
                      <a:endParaRPr lang="fr-FR" sz="15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sz="1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Maroc</a:t>
                      </a:r>
                      <a:endParaRPr lang="fr-FR" sz="1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60 000</a:t>
                      </a:r>
                      <a:endParaRPr lang="fr-FR" sz="15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30 000</a:t>
                      </a:r>
                      <a:endParaRPr lang="fr-FR" sz="15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5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90 000</a:t>
                      </a:r>
                      <a:endParaRPr lang="fr-FR" sz="15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 dirty="0"/>
          </a:p>
        </p:txBody>
      </p:sp>
      <p:sp>
        <p:nvSpPr>
          <p:cNvPr id="8195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F9F1D8-5B6E-499D-8B12-6D4FEC17DD21}" type="slidenum">
              <a:rPr lang="fr-FR" altLang="fr-FR" sz="1200" smtClean="0"/>
            </a:fld>
            <a:endParaRPr lang="fr-FR" altLang="fr-FR" sz="1200" dirty="0" smtClean="0"/>
          </a:p>
        </p:txBody>
      </p:sp>
      <p:sp>
        <p:nvSpPr>
          <p:cNvPr id="2" name="ZoneTexte 1"/>
          <p:cNvSpPr txBox="1"/>
          <p:nvPr/>
        </p:nvSpPr>
        <p:spPr>
          <a:xfrm>
            <a:off x="0" y="6513513"/>
            <a:ext cx="9144000" cy="3444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559411" y="1049507"/>
            <a:ext cx="612068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I-</a:t>
            </a:r>
            <a:r>
              <a:rPr lang="fr-FR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Situation du marché de travail de la région Drâa-Tafilalet</a:t>
            </a:r>
            <a:endParaRPr lang="fr-FR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435416"/>
            <a:ext cx="576751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Défis et enjeux de l’emploi dans la région Drâa-Tafilalet</a:t>
            </a:r>
            <a:endParaRPr lang="fr-FR" sz="17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019060" y="2060848"/>
            <a:ext cx="73693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Taux de chômage, le plus bas de toutes les régions du royaume 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1517088" y="2537249"/>
            <a:ext cx="71593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6600"/>
              </a:buClr>
            </a:pPr>
            <a:r>
              <a:rPr lang="fr-F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Taux de chômage qui masque de grandes disparités sur le plan quantitatif et qualitatif (territoriales, âge, genre, niveau de diplôme, emploi informel, etc.)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988906" y="3286907"/>
            <a:ext cx="7831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Taux de participation au marché de travail de 41,3% contre 46,7% au niveau national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1526800" y="4010015"/>
            <a:ext cx="6984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6600"/>
              </a:buClr>
            </a:pP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Faible capacité d’inclusion des femmes et des jeunes au marché du travail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1545963" y="4420633"/>
            <a:ext cx="6984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6600"/>
              </a:buClr>
            </a:pP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Faible </a:t>
            </a:r>
            <a:r>
              <a:rPr lang="fr-F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niveau de qualification des actifs de la région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986177" y="4933344"/>
            <a:ext cx="78315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région compte plus de 100 000 jeunes âgés de 15 à 24 ans qui ne sont ni en travail, ni à l’école ni en formation ( taux des </a:t>
            </a:r>
            <a:r>
              <a:rPr lang="fr-FR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NEET’s</a:t>
            </a:r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27,2%)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1445643" y="5693805"/>
            <a:ext cx="69847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F6600"/>
              </a:buClr>
            </a:pPr>
            <a:r>
              <a:rPr lang="fr-FR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taux enregistré chez les filles est l’un des plus élevés de toutes les régions après celui de Marrakech-Safi </a:t>
            </a:r>
            <a:endParaRPr lang="fr-F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/>
          </a:p>
        </p:txBody>
      </p:sp>
      <p:sp>
        <p:nvSpPr>
          <p:cNvPr id="8195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F9F1D8-5B6E-499D-8B12-6D4FEC17DD21}" type="slidenum">
              <a:rPr lang="fr-FR" altLang="fr-FR" sz="1200" smtClean="0"/>
            </a:fld>
            <a:endParaRPr lang="fr-FR" altLang="fr-FR" sz="1200" smtClean="0"/>
          </a:p>
        </p:txBody>
      </p:sp>
      <p:sp>
        <p:nvSpPr>
          <p:cNvPr id="2" name="ZoneTexte 1"/>
          <p:cNvSpPr txBox="1"/>
          <p:nvPr/>
        </p:nvSpPr>
        <p:spPr>
          <a:xfrm>
            <a:off x="0" y="6513513"/>
            <a:ext cx="9144000" cy="3444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559410" y="1049507"/>
            <a:ext cx="79010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II- Déterminants de l’accès à l’emploi chez les diplômés de la FP de la région Drâa-Tafilalet</a:t>
            </a:r>
            <a:endParaRPr lang="fr-FR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435416"/>
            <a:ext cx="49931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 Caractéristiques de la FP au niveau de la région</a:t>
            </a:r>
            <a:endParaRPr lang="fr-FR" sz="1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785786" y="2000240"/>
            <a:ext cx="70723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de formation :</a:t>
            </a:r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formation diplômante, baccalauréat professionnel et         formation qualifiante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785786" y="2643182"/>
            <a:ext cx="3643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Niveaux de la formation  diplômante:</a:t>
            </a:r>
            <a:endParaRPr lang="fr-FR" b="1" dirty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4214810" y="2643182"/>
            <a:ext cx="2714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Spécialisation :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4214810" y="3071810"/>
            <a:ext cx="2714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Qualification :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4214810" y="3500438"/>
            <a:ext cx="2714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Technicien :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4214810" y="4000504"/>
            <a:ext cx="27146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Technicien spécialisé :</a:t>
            </a:r>
            <a:endParaRPr lang="fr-FR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5643570" y="2643182"/>
            <a:ext cx="928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22%</a:t>
            </a:r>
            <a:endParaRPr lang="fr-FR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5572132" y="3071810"/>
            <a:ext cx="928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25%</a:t>
            </a:r>
            <a:endParaRPr lang="fr-FR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5357818" y="3500438"/>
            <a:ext cx="92869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24%</a:t>
            </a:r>
            <a:endParaRPr lang="fr-FR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ZoneTexte 19"/>
          <p:cNvSpPr txBox="1"/>
          <p:nvPr/>
        </p:nvSpPr>
        <p:spPr>
          <a:xfrm>
            <a:off x="6215074" y="4000504"/>
            <a:ext cx="962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29%</a:t>
            </a:r>
            <a:endParaRPr lang="fr-FR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ZoneTexte 20"/>
          <p:cNvSpPr txBox="1"/>
          <p:nvPr/>
        </p:nvSpPr>
        <p:spPr>
          <a:xfrm>
            <a:off x="857224" y="4572008"/>
            <a:ext cx="57150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Répartition des lauréats de la FP 2017-2018 par secteur</a:t>
            </a:r>
            <a:endParaRPr lang="fr-FR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857224" y="5072074"/>
            <a:ext cx="857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BTP</a:t>
            </a:r>
            <a:endParaRPr lang="fr-FR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857224" y="5572140"/>
            <a:ext cx="857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IMME</a:t>
            </a:r>
            <a:endParaRPr lang="fr-FR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1357290" y="5072074"/>
            <a:ext cx="642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26%</a:t>
            </a:r>
            <a:endParaRPr lang="fr-FR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ZoneTexte 24"/>
          <p:cNvSpPr txBox="1"/>
          <p:nvPr/>
        </p:nvSpPr>
        <p:spPr>
          <a:xfrm>
            <a:off x="1500166" y="5572140"/>
            <a:ext cx="642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14%</a:t>
            </a:r>
            <a:endParaRPr lang="fr-FR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2071670" y="5072074"/>
            <a:ext cx="30003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Administration et gestion  </a:t>
            </a:r>
            <a:endParaRPr lang="fr-FR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4357686" y="5072074"/>
            <a:ext cx="642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14%</a:t>
            </a:r>
            <a:endParaRPr lang="fr-FR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2214546" y="5572140"/>
            <a:ext cx="2071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Artisanat</a:t>
            </a:r>
            <a:endParaRPr lang="fr-FR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3143240" y="5572140"/>
            <a:ext cx="642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7%</a:t>
            </a:r>
            <a:endParaRPr lang="fr-FR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ZoneTexte 29"/>
          <p:cNvSpPr txBox="1"/>
          <p:nvPr/>
        </p:nvSpPr>
        <p:spPr>
          <a:xfrm>
            <a:off x="3786182" y="5572140"/>
            <a:ext cx="2071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Agriculture</a:t>
            </a:r>
            <a:endParaRPr lang="fr-FR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5143504" y="5072074"/>
            <a:ext cx="25003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Hôtellerie et tourisme</a:t>
            </a:r>
            <a:endParaRPr lang="fr-FR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ZoneTexte 31"/>
          <p:cNvSpPr txBox="1"/>
          <p:nvPr/>
        </p:nvSpPr>
        <p:spPr>
          <a:xfrm>
            <a:off x="7072330" y="5072074"/>
            <a:ext cx="642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7%</a:t>
            </a:r>
            <a:endParaRPr lang="fr-FR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ZoneTexte 32"/>
          <p:cNvSpPr txBox="1"/>
          <p:nvPr/>
        </p:nvSpPr>
        <p:spPr>
          <a:xfrm>
            <a:off x="4857752" y="5572140"/>
            <a:ext cx="642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7%</a:t>
            </a:r>
            <a:endParaRPr lang="fr-FR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5429256" y="5572140"/>
            <a:ext cx="20717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Textile et habillement</a:t>
            </a:r>
            <a:endParaRPr lang="fr-FR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ZoneTexte 34"/>
          <p:cNvSpPr txBox="1"/>
          <p:nvPr/>
        </p:nvSpPr>
        <p:spPr>
          <a:xfrm>
            <a:off x="7429520" y="5572140"/>
            <a:ext cx="642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6%</a:t>
            </a:r>
            <a:endParaRPr lang="fr-FR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857224" y="6143644"/>
            <a:ext cx="32861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Santé, coiffure et audio visuel</a:t>
            </a:r>
            <a:endParaRPr lang="fr-FR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3500430" y="6143644"/>
            <a:ext cx="6429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19%</a:t>
            </a:r>
            <a:endParaRPr lang="fr-FR" b="1" dirty="0" smtClean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ZoneTexte 37"/>
          <p:cNvSpPr txBox="1"/>
          <p:nvPr/>
        </p:nvSpPr>
        <p:spPr>
          <a:xfrm>
            <a:off x="928662" y="3071810"/>
            <a:ext cx="27860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inscrits en 2017-2018</a:t>
            </a:r>
            <a:endParaRPr lang="fr-FR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/>
          </a:p>
        </p:txBody>
      </p:sp>
      <p:sp>
        <p:nvSpPr>
          <p:cNvPr id="8195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F9F1D8-5B6E-499D-8B12-6D4FEC17DD21}" type="slidenum">
              <a:rPr lang="fr-FR" altLang="fr-FR" sz="1200" smtClean="0"/>
            </a:fld>
            <a:endParaRPr lang="fr-FR" altLang="fr-FR" sz="1200" smtClean="0"/>
          </a:p>
        </p:txBody>
      </p:sp>
      <p:sp>
        <p:nvSpPr>
          <p:cNvPr id="2" name="ZoneTexte 1"/>
          <p:cNvSpPr txBox="1"/>
          <p:nvPr/>
        </p:nvSpPr>
        <p:spPr>
          <a:xfrm>
            <a:off x="0" y="6513513"/>
            <a:ext cx="9144000" cy="3444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559410" y="1049507"/>
            <a:ext cx="79010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II- Déterminants de l’accès à l’emploi chez les diplômés de la FP de la région Drâa-Tafilalet</a:t>
            </a:r>
            <a:endParaRPr lang="fr-FR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435416"/>
            <a:ext cx="49931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Méthodologie de l’étude</a:t>
            </a:r>
            <a:endParaRPr lang="fr-FR" sz="1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ZoneTexte 8"/>
          <p:cNvSpPr txBox="1"/>
          <p:nvPr/>
        </p:nvSpPr>
        <p:spPr>
          <a:xfrm>
            <a:off x="714348" y="2432115"/>
            <a:ext cx="171451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Unité cible </a:t>
            </a:r>
            <a:endParaRPr lang="fr-FR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ZoneTexte 9"/>
          <p:cNvSpPr txBox="1"/>
          <p:nvPr/>
        </p:nvSpPr>
        <p:spPr>
          <a:xfrm>
            <a:off x="2571736" y="2428868"/>
            <a:ext cx="550072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Détenteurs du diplôme de la formation professionnelle</a:t>
            </a:r>
            <a:endParaRPr lang="fr-FR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428596" y="3146495"/>
            <a:ext cx="271464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Champ géographique</a:t>
            </a:r>
            <a:endParaRPr lang="fr-FR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3357554" y="3146495"/>
            <a:ext cx="257176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région </a:t>
            </a:r>
            <a:r>
              <a:rPr lang="fr-FR" sz="17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Drâa</a:t>
            </a:r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-Tafilalet</a:t>
            </a:r>
            <a:endParaRPr lang="fr-FR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428596" y="3860875"/>
            <a:ext cx="271464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de sondage 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2714580" y="3864122"/>
            <a:ext cx="642942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données collectée de l’Enquête Nationale sur l’Emploi</a:t>
            </a:r>
            <a:endParaRPr lang="fr-FR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285720" y="4575255"/>
            <a:ext cx="335758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Méthode d’échantillonnage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3786182" y="4575255"/>
            <a:ext cx="521497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Sondage stratifié à tirage proportionnel à la taille</a:t>
            </a:r>
            <a:endParaRPr lang="fr-FR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428596" y="5289635"/>
            <a:ext cx="335758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Taille de l’échantillon 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3286116" y="5289635"/>
            <a:ext cx="521497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154 individus ayant un diplôme de la FP</a:t>
            </a:r>
            <a:endParaRPr lang="fr-FR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Flèche droite 18"/>
          <p:cNvSpPr/>
          <p:nvPr/>
        </p:nvSpPr>
        <p:spPr bwMode="auto">
          <a:xfrm>
            <a:off x="1928794" y="2503553"/>
            <a:ext cx="571504" cy="285752"/>
          </a:xfrm>
          <a:prstGeom prst="rightArrow">
            <a:avLst/>
          </a:prstGeom>
          <a:noFill/>
          <a:ln w="952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rgbClr val="F18E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Flèche droite 19"/>
          <p:cNvSpPr/>
          <p:nvPr/>
        </p:nvSpPr>
        <p:spPr bwMode="auto">
          <a:xfrm>
            <a:off x="2643174" y="3217933"/>
            <a:ext cx="571504" cy="285752"/>
          </a:xfrm>
          <a:prstGeom prst="rightArrow">
            <a:avLst/>
          </a:prstGeom>
          <a:noFill/>
          <a:ln w="952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rgbClr val="F18E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Flèche droite 20"/>
          <p:cNvSpPr/>
          <p:nvPr/>
        </p:nvSpPr>
        <p:spPr bwMode="auto">
          <a:xfrm>
            <a:off x="2143108" y="3929066"/>
            <a:ext cx="571504" cy="285752"/>
          </a:xfrm>
          <a:prstGeom prst="rightArrow">
            <a:avLst/>
          </a:prstGeom>
          <a:noFill/>
          <a:ln w="952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rgbClr val="F18E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Flèche droite 21"/>
          <p:cNvSpPr/>
          <p:nvPr/>
        </p:nvSpPr>
        <p:spPr bwMode="auto">
          <a:xfrm>
            <a:off x="3071802" y="4575255"/>
            <a:ext cx="571504" cy="285752"/>
          </a:xfrm>
          <a:prstGeom prst="rightArrow">
            <a:avLst/>
          </a:prstGeom>
          <a:noFill/>
          <a:ln w="952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rgbClr val="F18E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Flèche droite 22"/>
          <p:cNvSpPr/>
          <p:nvPr/>
        </p:nvSpPr>
        <p:spPr bwMode="auto">
          <a:xfrm>
            <a:off x="2643174" y="5289635"/>
            <a:ext cx="571504" cy="285752"/>
          </a:xfrm>
          <a:prstGeom prst="rightArrow">
            <a:avLst/>
          </a:prstGeom>
          <a:noFill/>
          <a:ln w="952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rgbClr val="F18E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/>
          </a:p>
        </p:txBody>
      </p:sp>
      <p:sp>
        <p:nvSpPr>
          <p:cNvPr id="8195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F9F1D8-5B6E-499D-8B12-6D4FEC17DD21}" type="slidenum">
              <a:rPr lang="fr-FR" altLang="fr-FR" sz="1200" smtClean="0"/>
            </a:fld>
            <a:endParaRPr lang="fr-FR" altLang="fr-FR" sz="1200" smtClean="0"/>
          </a:p>
        </p:txBody>
      </p:sp>
      <p:sp>
        <p:nvSpPr>
          <p:cNvPr id="2" name="ZoneTexte 1"/>
          <p:cNvSpPr txBox="1"/>
          <p:nvPr/>
        </p:nvSpPr>
        <p:spPr>
          <a:xfrm>
            <a:off x="0" y="6513513"/>
            <a:ext cx="9144000" cy="3444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559410" y="1049507"/>
            <a:ext cx="79010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II- Déterminants de l’accès à l’emploi chez les diplômés de la FP de la région Drâa-Tafilalet</a:t>
            </a:r>
            <a:endParaRPr lang="fr-FR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435416"/>
            <a:ext cx="49931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Méthodologie de l’étude</a:t>
            </a:r>
            <a:endParaRPr lang="fr-FR" sz="1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3786182" y="1857364"/>
            <a:ext cx="25003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problématique</a:t>
            </a:r>
            <a:r>
              <a:rPr lang="fr-FR" sz="1700" b="1" dirty="0" smtClean="0">
                <a:solidFill>
                  <a:srgbClr val="FF6600"/>
                </a:solidFill>
              </a:rPr>
              <a:t> </a:t>
            </a:r>
            <a:endParaRPr lang="fr-FR" sz="1700" b="1" dirty="0">
              <a:solidFill>
                <a:srgbClr val="FF6600"/>
              </a:solidFill>
            </a:endParaRPr>
          </a:p>
        </p:txBody>
      </p:sp>
      <p:sp>
        <p:nvSpPr>
          <p:cNvPr id="25" name="Flèche vers le bas 24"/>
          <p:cNvSpPr/>
          <p:nvPr/>
        </p:nvSpPr>
        <p:spPr bwMode="auto">
          <a:xfrm>
            <a:off x="4572000" y="2357430"/>
            <a:ext cx="357190" cy="571504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rgbClr val="F18E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ZoneTexte 25"/>
          <p:cNvSpPr txBox="1"/>
          <p:nvPr/>
        </p:nvSpPr>
        <p:spPr>
          <a:xfrm>
            <a:off x="2428860" y="3143248"/>
            <a:ext cx="485778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Déterminer les facteurs qui influencent l’accès à l’emploi chez les diplômés de la FP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ZoneTexte 26"/>
          <p:cNvSpPr txBox="1"/>
          <p:nvPr/>
        </p:nvSpPr>
        <p:spPr>
          <a:xfrm>
            <a:off x="3714744" y="4003751"/>
            <a:ext cx="221457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dépendante</a:t>
            </a:r>
            <a:endParaRPr lang="fr-FR" sz="1700" b="1" dirty="0">
              <a:solidFill>
                <a:srgbClr val="FF6600"/>
              </a:solidFill>
            </a:endParaRPr>
          </a:p>
        </p:txBody>
      </p:sp>
      <p:sp>
        <p:nvSpPr>
          <p:cNvPr id="28" name="Flèche vers le bas 27"/>
          <p:cNvSpPr/>
          <p:nvPr/>
        </p:nvSpPr>
        <p:spPr bwMode="auto">
          <a:xfrm>
            <a:off x="4572000" y="4503817"/>
            <a:ext cx="357190" cy="571504"/>
          </a:xfrm>
          <a:prstGeom prst="down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rgbClr val="F18E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3500430" y="5218197"/>
            <a:ext cx="350046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AEMP: Accès à l’emploi </a:t>
            </a:r>
            <a:endParaRPr lang="fr-FR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3000364" y="5857892"/>
            <a:ext cx="171451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0: Chômeur 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ZoneTexte 57"/>
          <p:cNvSpPr txBox="1"/>
          <p:nvPr/>
        </p:nvSpPr>
        <p:spPr>
          <a:xfrm>
            <a:off x="5143504" y="5861139"/>
            <a:ext cx="128588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Employé 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animBg="1"/>
      <p:bldP spid="26" grpId="0"/>
      <p:bldP spid="27" grpId="0"/>
      <p:bldP spid="28" grpId="0" animBg="1"/>
      <p:bldP spid="29" grpId="0"/>
      <p:bldP spid="57" grpId="0"/>
      <p:bldP spid="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/>
          </a:p>
        </p:txBody>
      </p:sp>
      <p:sp>
        <p:nvSpPr>
          <p:cNvPr id="8195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F9F1D8-5B6E-499D-8B12-6D4FEC17DD21}" type="slidenum">
              <a:rPr lang="fr-FR" altLang="fr-FR" sz="1200" smtClean="0"/>
            </a:fld>
            <a:endParaRPr lang="fr-FR" altLang="fr-FR" sz="1200" smtClean="0"/>
          </a:p>
        </p:txBody>
      </p:sp>
      <p:sp>
        <p:nvSpPr>
          <p:cNvPr id="2" name="ZoneTexte 1"/>
          <p:cNvSpPr txBox="1"/>
          <p:nvPr/>
        </p:nvSpPr>
        <p:spPr>
          <a:xfrm>
            <a:off x="0" y="6513513"/>
            <a:ext cx="9144000" cy="3444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559410" y="1049507"/>
            <a:ext cx="79010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II- Déterminants de l’accès à l’emploi chez les diplômés de la FP de la région Drâa-Tafilalet</a:t>
            </a:r>
            <a:endParaRPr lang="fr-FR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435416"/>
            <a:ext cx="49931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Méthodologie de l’étude</a:t>
            </a:r>
            <a:endParaRPr lang="fr-FR" sz="1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3643306" y="1714488"/>
            <a:ext cx="271464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 indépendantes</a:t>
            </a:r>
            <a:endParaRPr lang="fr-FR" sz="1700" b="1" dirty="0">
              <a:solidFill>
                <a:srgbClr val="FF660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4500562" y="2214554"/>
            <a:ext cx="378621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Caractéristiques de la formation </a:t>
            </a:r>
            <a:endParaRPr lang="fr-FR" sz="1700" b="1" dirty="0">
              <a:solidFill>
                <a:schemeClr val="tx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214282" y="2214554"/>
            <a:ext cx="400052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Caractéristiques sociodémographiques</a:t>
            </a:r>
            <a:endParaRPr lang="fr-FR" sz="1700" b="1" dirty="0">
              <a:solidFill>
                <a:schemeClr val="tx1"/>
              </a:solidFill>
            </a:endParaRPr>
          </a:p>
        </p:txBody>
      </p:sp>
      <p:sp>
        <p:nvSpPr>
          <p:cNvPr id="17" name="Accolade ouvrante 16"/>
          <p:cNvSpPr/>
          <p:nvPr/>
        </p:nvSpPr>
        <p:spPr bwMode="auto">
          <a:xfrm>
            <a:off x="357158" y="2857496"/>
            <a:ext cx="357190" cy="3357586"/>
          </a:xfrm>
          <a:prstGeom prst="leftBrace">
            <a:avLst/>
          </a:prstGeom>
          <a:ln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rgbClr val="F18E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857224" y="2857496"/>
            <a:ext cx="3214710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sexe: SEX </a:t>
            </a:r>
            <a:endParaRPr lang="fr-FR" sz="17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0: Masculin      1: Féminin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fr-FR" sz="17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L’âge: Age</a:t>
            </a:r>
            <a:endParaRPr lang="fr-FR" sz="17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fr-FR" sz="17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Milieu de résidence: MILRES</a:t>
            </a:r>
            <a:endParaRPr lang="fr-FR" sz="17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Urbain        2: Rural 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fr-FR" sz="17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Situation familiale: SITUFAMI</a:t>
            </a:r>
            <a:endParaRPr lang="fr-FR" sz="17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Célibataire     2: Autre 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Accolade ouvrante 34"/>
          <p:cNvSpPr/>
          <p:nvPr/>
        </p:nvSpPr>
        <p:spPr bwMode="auto">
          <a:xfrm>
            <a:off x="4143372" y="2714620"/>
            <a:ext cx="357190" cy="4000504"/>
          </a:xfrm>
          <a:prstGeom prst="leftBrace">
            <a:avLst/>
          </a:prstGeom>
          <a:ln>
            <a:solidFill>
              <a:schemeClr val="accent4"/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rgbClr val="F18E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4572000" y="2643182"/>
            <a:ext cx="4000528" cy="4932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Niveau de formation: NIVFORM</a:t>
            </a:r>
            <a:endParaRPr lang="fr-FR" sz="17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Spécialisation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qualification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3: Technicien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4: Technicien spécialisé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fr-FR" sz="17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Domaine de formation: DOMFORM</a:t>
            </a:r>
            <a:endParaRPr lang="fr-FR" sz="17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BTP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Textile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3: IMME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4: Administration et gestion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5: Artisanat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6: Enseignement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7: Santé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8: Hôtellerie et restauration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35" grpId="0" animBg="1"/>
      <p:bldP spid="3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/>
          </a:p>
        </p:txBody>
      </p:sp>
      <p:sp>
        <p:nvSpPr>
          <p:cNvPr id="8195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F9F1D8-5B6E-499D-8B12-6D4FEC17DD21}" type="slidenum">
              <a:rPr lang="fr-FR" altLang="fr-FR" sz="1200" smtClean="0"/>
            </a:fld>
            <a:endParaRPr lang="fr-FR" altLang="fr-FR" sz="1200" smtClean="0"/>
          </a:p>
        </p:txBody>
      </p:sp>
      <p:sp>
        <p:nvSpPr>
          <p:cNvPr id="2" name="ZoneTexte 1"/>
          <p:cNvSpPr txBox="1"/>
          <p:nvPr/>
        </p:nvSpPr>
        <p:spPr>
          <a:xfrm>
            <a:off x="0" y="6513513"/>
            <a:ext cx="9144000" cy="34448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559410" y="1049507"/>
            <a:ext cx="79010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II- Déterminants de l’accès à l’emploi chez les diplômés de la FP de la région Drâa-Tafilalet</a:t>
            </a:r>
            <a:endParaRPr lang="fr-FR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435416"/>
            <a:ext cx="49931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Méthodologie de l’étude</a:t>
            </a:r>
            <a:endParaRPr lang="fr-FR" sz="1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3571868" y="1714488"/>
            <a:ext cx="3429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Variables indépendantes (suite)</a:t>
            </a:r>
            <a:endParaRPr lang="fr-FR" sz="1800" b="1" dirty="0">
              <a:solidFill>
                <a:srgbClr val="FF6600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2143108" y="2214554"/>
            <a:ext cx="378621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Caractéristiques de la formation </a:t>
            </a:r>
            <a:endParaRPr lang="fr-FR" sz="1700" b="1" dirty="0">
              <a:solidFill>
                <a:schemeClr val="tx1"/>
              </a:solidFill>
            </a:endParaRPr>
          </a:p>
        </p:txBody>
      </p:sp>
      <p:sp>
        <p:nvSpPr>
          <p:cNvPr id="35" name="Accolade ouvrante 34"/>
          <p:cNvSpPr/>
          <p:nvPr/>
        </p:nvSpPr>
        <p:spPr bwMode="auto">
          <a:xfrm>
            <a:off x="1571604" y="2857496"/>
            <a:ext cx="357190" cy="3000396"/>
          </a:xfrm>
          <a:prstGeom prst="leftBrac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rgbClr val="F18E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ZoneTexte 35"/>
          <p:cNvSpPr txBox="1"/>
          <p:nvPr/>
        </p:nvSpPr>
        <p:spPr>
          <a:xfrm>
            <a:off x="2071670" y="2996487"/>
            <a:ext cx="4000528" cy="41472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Opérateur de formation: OPFORM</a:t>
            </a:r>
            <a:endParaRPr lang="fr-FR" sz="17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1: public (OFPPT)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2: Privé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3: Autre ( opérateurs publics payants)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Ancienneté du diplôme: ANCDIP</a:t>
            </a:r>
            <a:endParaRPr lang="fr-FR" sz="17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17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Mesurée en années , depuis l’obtention du diplôme jusqu’à 2018 </a:t>
            </a: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7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50000"/>
              </a:lnSpc>
            </a:pPr>
            <a:endParaRPr lang="fr-FR" sz="17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/>
          </a:p>
        </p:txBody>
      </p:sp>
      <p:sp>
        <p:nvSpPr>
          <p:cNvPr id="8195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F9F1D8-5B6E-499D-8B12-6D4FEC17DD21}" type="slidenum">
              <a:rPr lang="fr-FR" altLang="fr-FR" sz="1200" smtClean="0"/>
            </a:fld>
            <a:endParaRPr lang="fr-FR" altLang="fr-FR" sz="1200" smtClean="0"/>
          </a:p>
        </p:txBody>
      </p:sp>
      <p:sp>
        <p:nvSpPr>
          <p:cNvPr id="7" name="ZoneTexte 6"/>
          <p:cNvSpPr txBox="1"/>
          <p:nvPr/>
        </p:nvSpPr>
        <p:spPr>
          <a:xfrm>
            <a:off x="559410" y="1049507"/>
            <a:ext cx="79010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II- Déterminants de l’accès à l’emploi chez les diplômés de la FP de la région Drâa-Tafilalet</a:t>
            </a:r>
            <a:endParaRPr lang="fr-FR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435416"/>
            <a:ext cx="49931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Méthodologie de l’étude</a:t>
            </a:r>
            <a:endParaRPr lang="fr-FR" sz="1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2786050" y="1785926"/>
            <a:ext cx="442915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 des variables sur le logiciel R </a:t>
            </a:r>
            <a:endParaRPr lang="fr-FR" sz="1700" b="1" dirty="0">
              <a:solidFill>
                <a:srgbClr val="FF6600"/>
              </a:solidFill>
            </a:endParaRPr>
          </a:p>
        </p:txBody>
      </p:sp>
      <p:pic>
        <p:nvPicPr>
          <p:cNvPr id="14" name="Image 13" descr="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158" y="2214554"/>
            <a:ext cx="8572560" cy="4286280"/>
          </a:xfrm>
          <a:prstGeom prst="rect">
            <a:avLst/>
          </a:prstGeom>
        </p:spPr>
      </p:pic>
      <p:sp>
        <p:nvSpPr>
          <p:cNvPr id="19" name="ZoneTexte 18"/>
          <p:cNvSpPr txBox="1"/>
          <p:nvPr/>
        </p:nvSpPr>
        <p:spPr>
          <a:xfrm>
            <a:off x="0" y="6500834"/>
            <a:ext cx="9144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559410" y="1049507"/>
            <a:ext cx="79010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II- Déterminants de l’accès à l’emploi chez les diplômés de la FP de la région Drâa-Tafilalet</a:t>
            </a:r>
            <a:endParaRPr lang="fr-FR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435416"/>
            <a:ext cx="49931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Méthodologie de l’étude</a:t>
            </a:r>
            <a:endParaRPr lang="fr-FR" sz="1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0" y="6519470"/>
            <a:ext cx="9144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785786" y="2000240"/>
            <a:ext cx="721523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hypothèses de la recherche</a:t>
            </a:r>
            <a:endParaRPr lang="fr-FR" sz="18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285720" y="2571744"/>
            <a:ext cx="8786842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</a:pPr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1 : Les hommes sont plus susceptibles de trouver un emploi que les femmes</a:t>
            </a:r>
            <a:endParaRPr lang="fr-FR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50000"/>
              </a:lnSpc>
            </a:pPr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2 : La probabilité d’accéder à l’emploi augmente avec l’âge</a:t>
            </a:r>
            <a:endParaRPr lang="fr-FR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50000"/>
              </a:lnSpc>
            </a:pPr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3 : L’augmentation du niveau de formation réduit les chances d’accéder à l’emploi</a:t>
            </a:r>
            <a:endParaRPr lang="fr-FR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50000"/>
              </a:lnSpc>
            </a:pPr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4 : L’accès à l’emploi dépend du domaine de formation acquise par le diplômé</a:t>
            </a:r>
            <a:endParaRPr lang="fr-FR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50000"/>
              </a:lnSpc>
            </a:pPr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5 : Certains opérateurs de la formation professionnelle influencent l’accès à l’emploi</a:t>
            </a:r>
            <a:endParaRPr lang="fr-FR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/>
          </a:p>
        </p:txBody>
      </p:sp>
      <p:sp>
        <p:nvSpPr>
          <p:cNvPr id="8195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F9F1D8-5B6E-499D-8B12-6D4FEC17DD21}" type="slidenum">
              <a:rPr lang="fr-FR" altLang="fr-FR" sz="1200" smtClean="0"/>
            </a:fld>
            <a:endParaRPr lang="fr-FR" altLang="fr-FR" sz="1200" smtClean="0"/>
          </a:p>
        </p:txBody>
      </p:sp>
      <p:sp>
        <p:nvSpPr>
          <p:cNvPr id="7" name="ZoneTexte 6"/>
          <p:cNvSpPr txBox="1"/>
          <p:nvPr/>
        </p:nvSpPr>
        <p:spPr>
          <a:xfrm>
            <a:off x="559410" y="1049507"/>
            <a:ext cx="79010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II- Déterminants de l’accès à l’emploi chez les diplômés de la FP de la région Drâa-Tafilalet</a:t>
            </a:r>
            <a:endParaRPr lang="fr-FR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435416"/>
            <a:ext cx="49931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Méthodologie de l’étude</a:t>
            </a:r>
            <a:endParaRPr lang="fr-FR" sz="1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0" y="6519470"/>
            <a:ext cx="9144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928662" y="1857364"/>
            <a:ext cx="721523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Génération du modèle </a:t>
            </a:r>
            <a:r>
              <a:rPr lang="fr-FR" sz="17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inital</a:t>
            </a:r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régression logistique </a:t>
            </a:r>
            <a:endParaRPr lang="fr-FR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5072066" y="2447504"/>
            <a:ext cx="2357454" cy="33855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pic>
        <p:nvPicPr>
          <p:cNvPr id="11" name="Image 10" descr="mod 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158" y="2338234"/>
            <a:ext cx="8501090" cy="3519658"/>
          </a:xfrm>
          <a:prstGeom prst="rect">
            <a:avLst/>
          </a:prstGeom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/>
          </a:p>
        </p:txBody>
      </p:sp>
      <p:sp>
        <p:nvSpPr>
          <p:cNvPr id="8195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F9F1D8-5B6E-499D-8B12-6D4FEC17DD21}" type="slidenum">
              <a:rPr lang="fr-FR" altLang="fr-FR" sz="1200" smtClean="0"/>
            </a:fld>
            <a:endParaRPr lang="fr-FR" altLang="fr-FR" sz="1200" smtClean="0"/>
          </a:p>
        </p:txBody>
      </p:sp>
      <p:sp>
        <p:nvSpPr>
          <p:cNvPr id="7" name="ZoneTexte 6"/>
          <p:cNvSpPr txBox="1"/>
          <p:nvPr/>
        </p:nvSpPr>
        <p:spPr>
          <a:xfrm>
            <a:off x="559410" y="1049507"/>
            <a:ext cx="79010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II- Déterminants de l’accès à l’emploi chez les diplômés de la FP de la région Drâa-Tafilalet</a:t>
            </a:r>
            <a:endParaRPr lang="fr-FR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435416"/>
            <a:ext cx="49931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Méthodologie de l’étude</a:t>
            </a:r>
            <a:endParaRPr lang="fr-FR" sz="1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0" y="6519470"/>
            <a:ext cx="9144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1000100" y="1857364"/>
            <a:ext cx="721523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Génération du modèle </a:t>
            </a:r>
            <a:r>
              <a:rPr lang="fr-FR" sz="1700" b="1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inital</a:t>
            </a:r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régression logistique (suite) </a:t>
            </a:r>
            <a:endParaRPr lang="fr-FR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5072066" y="2447504"/>
            <a:ext cx="2357454" cy="33855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pic>
        <p:nvPicPr>
          <p:cNvPr id="10" name="Image 9" descr="coe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786" y="2285992"/>
            <a:ext cx="7715304" cy="4572008"/>
          </a:xfrm>
          <a:prstGeom prst="rect">
            <a:avLst/>
          </a:prstGeom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/>
          </a:p>
        </p:txBody>
      </p:sp>
      <p:sp>
        <p:nvSpPr>
          <p:cNvPr id="8195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F9F1D8-5B6E-499D-8B12-6D4FEC17DD21}" type="slidenum">
              <a:rPr lang="fr-FR" altLang="fr-FR" sz="1200" smtClean="0"/>
            </a:fld>
            <a:endParaRPr lang="fr-FR" altLang="fr-FR" sz="1200" smtClean="0"/>
          </a:p>
        </p:txBody>
      </p:sp>
      <p:sp>
        <p:nvSpPr>
          <p:cNvPr id="7" name="ZoneTexte 6"/>
          <p:cNvSpPr txBox="1"/>
          <p:nvPr/>
        </p:nvSpPr>
        <p:spPr>
          <a:xfrm>
            <a:off x="559410" y="1049507"/>
            <a:ext cx="79010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II- Déterminants de l’accès à l’emploi chez les diplômés de la FP de la région Drâa-Tafilalet</a:t>
            </a:r>
            <a:endParaRPr lang="fr-FR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435416"/>
            <a:ext cx="49931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Méthodologie de l’étude</a:t>
            </a:r>
            <a:endParaRPr lang="fr-FR" sz="1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0" y="6519470"/>
            <a:ext cx="9144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1071538" y="1785926"/>
            <a:ext cx="721523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7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Génération du modèle final de la régression logistique (suite) </a:t>
            </a:r>
            <a:endParaRPr lang="fr-FR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5072066" y="2447504"/>
            <a:ext cx="2357454" cy="33855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pic>
        <p:nvPicPr>
          <p:cNvPr id="11" name="Image 10" descr="mod fi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0034" y="2214554"/>
            <a:ext cx="8429684" cy="4643446"/>
          </a:xfrm>
          <a:prstGeom prst="rect">
            <a:avLst/>
          </a:prstGeom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/>
          </a:p>
        </p:txBody>
      </p:sp>
      <p:sp>
        <p:nvSpPr>
          <p:cNvPr id="8195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F9F1D8-5B6E-499D-8B12-6D4FEC17DD21}" type="slidenum">
              <a:rPr lang="fr-FR" altLang="fr-FR" sz="1200" smtClean="0"/>
            </a:fld>
            <a:endParaRPr lang="fr-FR" altLang="fr-FR" sz="1200" smtClean="0"/>
          </a:p>
        </p:txBody>
      </p:sp>
      <p:sp>
        <p:nvSpPr>
          <p:cNvPr id="7" name="ZoneTexte 6"/>
          <p:cNvSpPr txBox="1"/>
          <p:nvPr/>
        </p:nvSpPr>
        <p:spPr>
          <a:xfrm>
            <a:off x="559410" y="1049507"/>
            <a:ext cx="79010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II- Déterminants de l’accès à l’emploi chez les diplômés de la FP de la région Drâa-Tafilalet</a:t>
            </a:r>
            <a:endParaRPr lang="fr-FR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435416"/>
            <a:ext cx="49931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Méthodologie de l’étude</a:t>
            </a:r>
            <a:endParaRPr lang="fr-FR" sz="1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0" y="6519470"/>
            <a:ext cx="9144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2928926" y="1928802"/>
            <a:ext cx="7215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rgbClr val="FF6600"/>
                </a:solidFill>
                <a:latin typeface="+mj-lt"/>
                <a:cs typeface="Times New Roman" panose="02020603050405020304" pitchFamily="18" charset="0"/>
              </a:rPr>
              <a:t>Performance du modèle </a:t>
            </a:r>
            <a:endParaRPr lang="fr-FR" sz="1800" b="1" dirty="0">
              <a:solidFill>
                <a:srgbClr val="FF660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22" name="ZoneTexte 21"/>
          <p:cNvSpPr txBox="1"/>
          <p:nvPr/>
        </p:nvSpPr>
        <p:spPr>
          <a:xfrm>
            <a:off x="5072066" y="2447504"/>
            <a:ext cx="2357454" cy="338554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pic>
        <p:nvPicPr>
          <p:cNvPr id="10" name="Image 9" descr="ma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786" y="3286124"/>
            <a:ext cx="7358114" cy="3000396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2857488" y="2425479"/>
            <a:ext cx="3500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b="1" dirty="0" smtClean="0">
                <a:solidFill>
                  <a:schemeClr val="tx1"/>
                </a:solidFill>
              </a:rPr>
              <a:t>Matrice de confusion</a:t>
            </a:r>
            <a:endParaRPr lang="fr-FR" sz="1800" b="1" dirty="0" smtClean="0">
              <a:solidFill>
                <a:schemeClr val="tx1"/>
              </a:solidFill>
            </a:endParaRPr>
          </a:p>
          <a:p>
            <a:pPr algn="ctr"/>
            <a:r>
              <a:rPr lang="fr-FR" sz="1800" b="1" dirty="0" smtClean="0">
                <a:solidFill>
                  <a:schemeClr val="tx1"/>
                </a:solidFill>
              </a:rPr>
              <a:t>Confusion </a:t>
            </a:r>
            <a:r>
              <a:rPr lang="fr-FR" sz="1800" b="1" dirty="0" err="1" smtClean="0">
                <a:solidFill>
                  <a:schemeClr val="tx1"/>
                </a:solidFill>
              </a:rPr>
              <a:t>matrix</a:t>
            </a:r>
            <a:endParaRPr lang="fr-FR" sz="1800" b="1" dirty="0">
              <a:solidFill>
                <a:schemeClr val="tx1"/>
              </a:solidFill>
            </a:endParaRPr>
          </a:p>
        </p:txBody>
      </p:sp>
      <p:sp>
        <p:nvSpPr>
          <p:cNvPr id="13" name="Ellipse 12"/>
          <p:cNvSpPr/>
          <p:nvPr/>
        </p:nvSpPr>
        <p:spPr bwMode="auto">
          <a:xfrm>
            <a:off x="714348" y="4143380"/>
            <a:ext cx="3857652" cy="1357322"/>
          </a:xfrm>
          <a:prstGeom prst="ellipse">
            <a:avLst/>
          </a:prstGeom>
          <a:noFill/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rgbClr val="F18E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857224" y="5857892"/>
            <a:ext cx="2571768" cy="285752"/>
          </a:xfrm>
          <a:prstGeom prst="rect">
            <a:avLst/>
          </a:prstGeom>
          <a:noFill/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rgbClr val="F18E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/>
          </a:p>
        </p:txBody>
      </p:sp>
      <p:sp>
        <p:nvSpPr>
          <p:cNvPr id="8195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F9F1D8-5B6E-499D-8B12-6D4FEC17DD21}" type="slidenum">
              <a:rPr lang="fr-FR" altLang="fr-FR" sz="1200" smtClean="0"/>
            </a:fld>
            <a:endParaRPr lang="fr-FR" altLang="fr-FR" sz="1200" smtClean="0"/>
          </a:p>
        </p:txBody>
      </p:sp>
      <p:sp>
        <p:nvSpPr>
          <p:cNvPr id="7" name="ZoneTexte 6"/>
          <p:cNvSpPr txBox="1"/>
          <p:nvPr/>
        </p:nvSpPr>
        <p:spPr>
          <a:xfrm>
            <a:off x="559410" y="1049507"/>
            <a:ext cx="79010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II- Déterminants de l’accès à l’emploi chez les diplômés de la FP de la région Drâa-Tafilalet</a:t>
            </a:r>
            <a:endParaRPr lang="fr-FR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435416"/>
            <a:ext cx="49931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2- Méthodologie de l’étude</a:t>
            </a:r>
            <a:endParaRPr lang="fr-FR" sz="1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0" y="6519470"/>
            <a:ext cx="9144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2643174" y="2345288"/>
            <a:ext cx="7215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rgbClr val="FF6600"/>
                </a:solidFill>
                <a:latin typeface="+mj-lt"/>
                <a:cs typeface="Times New Roman" panose="02020603050405020304" pitchFamily="18" charset="0"/>
              </a:rPr>
              <a:t>Performance du modèle (suite) </a:t>
            </a:r>
            <a:endParaRPr lang="fr-FR" sz="1800" b="1" dirty="0">
              <a:solidFill>
                <a:srgbClr val="FF660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2571736" y="2916792"/>
            <a:ext cx="35004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</a:rPr>
              <a:t>Test de la qualité du modèle</a:t>
            </a:r>
            <a:endParaRPr lang="fr-FR" sz="1800" b="1" dirty="0" smtClean="0">
              <a:solidFill>
                <a:schemeClr val="tx1"/>
              </a:solidFill>
            </a:endParaRPr>
          </a:p>
          <a:p>
            <a:pPr algn="ctr"/>
            <a:r>
              <a:rPr lang="fr-FR" sz="1800" b="1" dirty="0" err="1" smtClean="0">
                <a:solidFill>
                  <a:schemeClr val="tx1"/>
                </a:solidFill>
              </a:rPr>
              <a:t>Goodness</a:t>
            </a:r>
            <a:r>
              <a:rPr lang="fr-FR" sz="1800" b="1" dirty="0" smtClean="0">
                <a:solidFill>
                  <a:schemeClr val="tx1"/>
                </a:solidFill>
              </a:rPr>
              <a:t>-of-fit test</a:t>
            </a:r>
            <a:endParaRPr lang="fr-FR" sz="1800" b="1" dirty="0">
              <a:solidFill>
                <a:schemeClr val="tx1"/>
              </a:solidFill>
            </a:endParaRPr>
          </a:p>
        </p:txBody>
      </p:sp>
      <p:pic>
        <p:nvPicPr>
          <p:cNvPr id="15" name="Image 14" descr="tes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8503" y="3714752"/>
            <a:ext cx="8559777" cy="171451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auto">
          <a:xfrm>
            <a:off x="357158" y="4500570"/>
            <a:ext cx="2071702" cy="428628"/>
          </a:xfrm>
          <a:prstGeom prst="rect">
            <a:avLst/>
          </a:prstGeom>
          <a:noFill/>
          <a:ln w="38100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rgbClr val="F18E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/>
          </a:p>
        </p:txBody>
      </p:sp>
      <p:sp>
        <p:nvSpPr>
          <p:cNvPr id="8195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03F9F1D8-5B6E-499D-8B12-6D4FEC17DD21}" type="slidenum">
              <a:rPr lang="fr-FR" altLang="fr-FR" sz="1200" smtClean="0"/>
            </a:fld>
            <a:endParaRPr lang="fr-FR" altLang="fr-FR" sz="1200" smtClean="0"/>
          </a:p>
        </p:txBody>
      </p:sp>
      <p:sp>
        <p:nvSpPr>
          <p:cNvPr id="7" name="ZoneTexte 6"/>
          <p:cNvSpPr txBox="1"/>
          <p:nvPr/>
        </p:nvSpPr>
        <p:spPr>
          <a:xfrm>
            <a:off x="559410" y="1049507"/>
            <a:ext cx="79010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II- Déterminants de l’accès à l’emploi chez les diplômés de la FP de la région Drâa-Tafilalet</a:t>
            </a:r>
            <a:endParaRPr lang="fr-FR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435416"/>
            <a:ext cx="49931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 Résultats</a:t>
            </a:r>
            <a:endParaRPr lang="fr-FR" sz="1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0" y="6519470"/>
            <a:ext cx="9144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5072066" y="2447504"/>
            <a:ext cx="2357454" cy="36933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fr-FR" sz="1800" dirty="0"/>
          </a:p>
        </p:txBody>
      </p:sp>
      <p:sp>
        <p:nvSpPr>
          <p:cNvPr id="10" name="ZoneTexte 9"/>
          <p:cNvSpPr txBox="1"/>
          <p:nvPr/>
        </p:nvSpPr>
        <p:spPr>
          <a:xfrm>
            <a:off x="1571604" y="3068421"/>
            <a:ext cx="18573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L’âge</a:t>
            </a:r>
            <a:endParaRPr lang="fr-FR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4286248" y="3068421"/>
            <a:ext cx="42148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Niveau de formation : Qualification</a:t>
            </a:r>
            <a:endParaRPr lang="fr-FR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714348" y="4497181"/>
            <a:ext cx="26432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Domaines de formation:</a:t>
            </a:r>
            <a:endParaRPr lang="fr-FR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571472" y="5783065"/>
            <a:ext cx="30003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Opérateurs de formation:</a:t>
            </a:r>
            <a:endParaRPr lang="fr-FR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1857356" y="1928802"/>
            <a:ext cx="528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</a:rPr>
              <a:t>Accès à l’emploi des diplômés de la FP </a:t>
            </a:r>
            <a:endParaRPr lang="fr-FR" sz="1800" b="1" dirty="0">
              <a:solidFill>
                <a:schemeClr val="tx1"/>
              </a:solidFill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1857356" y="3497049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16%</a:t>
            </a:r>
            <a:endParaRPr lang="fr-FR" sz="1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Connecteur droit avec flèche 25"/>
          <p:cNvCxnSpPr/>
          <p:nvPr/>
        </p:nvCxnSpPr>
        <p:spPr bwMode="auto">
          <a:xfrm>
            <a:off x="1285852" y="3711363"/>
            <a:ext cx="500066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7" name="Connecteur droit avec flèche 26"/>
          <p:cNvCxnSpPr/>
          <p:nvPr/>
        </p:nvCxnSpPr>
        <p:spPr bwMode="auto">
          <a:xfrm>
            <a:off x="4714876" y="3711363"/>
            <a:ext cx="71438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29" name="ZoneTexte 28"/>
          <p:cNvSpPr txBox="1"/>
          <p:nvPr/>
        </p:nvSpPr>
        <p:spPr>
          <a:xfrm>
            <a:off x="5572132" y="3497049"/>
            <a:ext cx="12144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</a:rPr>
              <a:t>48%</a:t>
            </a:r>
            <a:endParaRPr lang="fr-FR" sz="1800" b="1" dirty="0">
              <a:solidFill>
                <a:schemeClr val="tx1"/>
              </a:solidFill>
            </a:endParaRPr>
          </a:p>
        </p:txBody>
      </p:sp>
      <p:sp>
        <p:nvSpPr>
          <p:cNvPr id="33" name="ZoneTexte 32"/>
          <p:cNvSpPr txBox="1"/>
          <p:nvPr/>
        </p:nvSpPr>
        <p:spPr>
          <a:xfrm>
            <a:off x="3786182" y="4354305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Textile</a:t>
            </a:r>
            <a:endParaRPr lang="fr-FR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ZoneTexte 33"/>
          <p:cNvSpPr txBox="1"/>
          <p:nvPr/>
        </p:nvSpPr>
        <p:spPr>
          <a:xfrm>
            <a:off x="6357951" y="4286256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IMME</a:t>
            </a:r>
            <a:endParaRPr lang="fr-FR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7" name="Connecteur droit avec flèche 36"/>
          <p:cNvCxnSpPr/>
          <p:nvPr/>
        </p:nvCxnSpPr>
        <p:spPr bwMode="auto">
          <a:xfrm rot="10800000">
            <a:off x="3857620" y="4854371"/>
            <a:ext cx="71438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0" name="Connecteur droit avec flèche 39"/>
          <p:cNvCxnSpPr/>
          <p:nvPr/>
        </p:nvCxnSpPr>
        <p:spPr bwMode="auto">
          <a:xfrm rot="10800000">
            <a:off x="6357951" y="4786322"/>
            <a:ext cx="71438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4" name="ZoneTexte 43"/>
          <p:cNvSpPr txBox="1"/>
          <p:nvPr/>
        </p:nvSpPr>
        <p:spPr>
          <a:xfrm>
            <a:off x="3714744" y="5711627"/>
            <a:ext cx="1357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Privé</a:t>
            </a:r>
            <a:endParaRPr lang="fr-FR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ZoneTexte 44"/>
          <p:cNvSpPr txBox="1"/>
          <p:nvPr/>
        </p:nvSpPr>
        <p:spPr>
          <a:xfrm>
            <a:off x="6000760" y="5640189"/>
            <a:ext cx="2714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 payant</a:t>
            </a:r>
            <a:endParaRPr lang="fr-FR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6" name="Connecteur droit avec flèche 45"/>
          <p:cNvCxnSpPr/>
          <p:nvPr/>
        </p:nvCxnSpPr>
        <p:spPr bwMode="auto">
          <a:xfrm rot="10800000">
            <a:off x="3786182" y="6211693"/>
            <a:ext cx="71438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47" name="Connecteur droit avec flèche 46"/>
          <p:cNvCxnSpPr/>
          <p:nvPr/>
        </p:nvCxnSpPr>
        <p:spPr bwMode="auto">
          <a:xfrm rot="10800000">
            <a:off x="6286513" y="6211693"/>
            <a:ext cx="71438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48" name="ZoneTexte 47"/>
          <p:cNvSpPr txBox="1"/>
          <p:nvPr/>
        </p:nvSpPr>
        <p:spPr>
          <a:xfrm>
            <a:off x="4786314" y="4640057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</a:rPr>
              <a:t>-48%</a:t>
            </a:r>
            <a:endParaRPr lang="fr-FR" sz="1800" b="1" dirty="0" smtClean="0">
              <a:solidFill>
                <a:schemeClr val="tx1"/>
              </a:solidFill>
            </a:endParaRPr>
          </a:p>
        </p:txBody>
      </p:sp>
      <p:sp>
        <p:nvSpPr>
          <p:cNvPr id="49" name="ZoneTexte 48"/>
          <p:cNvSpPr txBox="1"/>
          <p:nvPr/>
        </p:nvSpPr>
        <p:spPr>
          <a:xfrm>
            <a:off x="7286644" y="4575255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</a:rPr>
              <a:t>-36%</a:t>
            </a:r>
            <a:endParaRPr lang="fr-FR" sz="1800" b="1" dirty="0" smtClean="0">
              <a:solidFill>
                <a:schemeClr val="tx1"/>
              </a:solidFill>
            </a:endParaRPr>
          </a:p>
        </p:txBody>
      </p:sp>
      <p:sp>
        <p:nvSpPr>
          <p:cNvPr id="50" name="ZoneTexte 49"/>
          <p:cNvSpPr txBox="1"/>
          <p:nvPr/>
        </p:nvSpPr>
        <p:spPr>
          <a:xfrm>
            <a:off x="4643438" y="5997379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</a:rPr>
              <a:t>-29%</a:t>
            </a:r>
            <a:endParaRPr lang="fr-FR" sz="1800" b="1" dirty="0" smtClean="0">
              <a:solidFill>
                <a:schemeClr val="tx1"/>
              </a:solidFill>
            </a:endParaRPr>
          </a:p>
        </p:txBody>
      </p:sp>
      <p:sp>
        <p:nvSpPr>
          <p:cNvPr id="51" name="ZoneTexte 50"/>
          <p:cNvSpPr txBox="1"/>
          <p:nvPr/>
        </p:nvSpPr>
        <p:spPr>
          <a:xfrm>
            <a:off x="7072330" y="5997379"/>
            <a:ext cx="11430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</a:rPr>
              <a:t>-31%</a:t>
            </a:r>
            <a:endParaRPr lang="fr-FR" sz="1800" b="1" dirty="0" smtClean="0">
              <a:solidFill>
                <a:schemeClr val="tx1"/>
              </a:solidFill>
            </a:endParaRPr>
          </a:p>
        </p:txBody>
      </p:sp>
      <p:cxnSp>
        <p:nvCxnSpPr>
          <p:cNvPr id="52" name="Connecteur droit avec flèche 51"/>
          <p:cNvCxnSpPr/>
          <p:nvPr/>
        </p:nvCxnSpPr>
        <p:spPr bwMode="auto">
          <a:xfrm>
            <a:off x="3571868" y="2500306"/>
            <a:ext cx="1000132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66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56" name="Connecteur droit avec flèche 55"/>
          <p:cNvCxnSpPr/>
          <p:nvPr/>
        </p:nvCxnSpPr>
        <p:spPr bwMode="auto">
          <a:xfrm rot="10800000">
            <a:off x="3500430" y="2714620"/>
            <a:ext cx="866780" cy="158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6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58" name="ZoneTexte 57"/>
          <p:cNvSpPr txBox="1"/>
          <p:nvPr/>
        </p:nvSpPr>
        <p:spPr>
          <a:xfrm>
            <a:off x="4857752" y="2376066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</a:rPr>
              <a:t>Employé</a:t>
            </a:r>
            <a:endParaRPr lang="fr-FR" sz="1800" b="1" dirty="0">
              <a:solidFill>
                <a:schemeClr val="tx1"/>
              </a:solidFill>
            </a:endParaRPr>
          </a:p>
        </p:txBody>
      </p:sp>
      <p:sp>
        <p:nvSpPr>
          <p:cNvPr id="59" name="ZoneTexte 58"/>
          <p:cNvSpPr txBox="1"/>
          <p:nvPr/>
        </p:nvSpPr>
        <p:spPr>
          <a:xfrm>
            <a:off x="2071670" y="2528466"/>
            <a:ext cx="1571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</a:rPr>
              <a:t>Chômeur</a:t>
            </a:r>
            <a:endParaRPr lang="fr-FR" sz="1800" b="1" dirty="0">
              <a:solidFill>
                <a:schemeClr val="tx1"/>
              </a:solidFill>
            </a:endParaRPr>
          </a:p>
        </p:txBody>
      </p:sp>
      <p:sp>
        <p:nvSpPr>
          <p:cNvPr id="60" name="Rectangle 59"/>
          <p:cNvSpPr/>
          <p:nvPr/>
        </p:nvSpPr>
        <p:spPr bwMode="auto">
          <a:xfrm>
            <a:off x="428596" y="2928934"/>
            <a:ext cx="7858180" cy="3643338"/>
          </a:xfrm>
          <a:prstGeom prst="rect">
            <a:avLst/>
          </a:prstGeom>
          <a:noFill/>
          <a:ln w="9525" cap="flat" cmpd="sng" algn="ctr">
            <a:solidFill>
              <a:srgbClr val="FF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sz="1600" b="0" i="0" u="none" strike="noStrike" cap="none" normalizeH="0" baseline="0" smtClean="0">
              <a:ln>
                <a:noFill/>
              </a:ln>
              <a:solidFill>
                <a:srgbClr val="F18E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9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7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1" presetID="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3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4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5" grpId="0"/>
      <p:bldP spid="23" grpId="0"/>
      <p:bldP spid="29" grpId="0"/>
      <p:bldP spid="33" grpId="0"/>
      <p:bldP spid="44" grpId="0"/>
      <p:bldP spid="44" grpId="1"/>
      <p:bldP spid="45" grpId="0"/>
      <p:bldP spid="45" grpId="1"/>
      <p:bldP spid="50" grpId="0"/>
      <p:bldP spid="50" grpId="1"/>
      <p:bldP spid="51" grpId="0"/>
      <p:bldP spid="51" grpId="1"/>
      <p:bldP spid="60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559410" y="1049507"/>
            <a:ext cx="790102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II- Déterminants de l’accès à l’emploi chez les diplômés de la FP de la région Drâa-Tafilalet</a:t>
            </a:r>
            <a:endParaRPr lang="fr-FR" sz="15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435416"/>
            <a:ext cx="49931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 Résultats</a:t>
            </a:r>
            <a:endParaRPr lang="fr-FR" sz="15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0" y="6519470"/>
            <a:ext cx="9144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22" name="ZoneTexte 21"/>
          <p:cNvSpPr txBox="1"/>
          <p:nvPr/>
        </p:nvSpPr>
        <p:spPr>
          <a:xfrm>
            <a:off x="5072066" y="2447504"/>
            <a:ext cx="2357454" cy="36933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fr-FR" sz="1800" dirty="0"/>
          </a:p>
        </p:txBody>
      </p:sp>
      <p:sp>
        <p:nvSpPr>
          <p:cNvPr id="15" name="ZoneTexte 14"/>
          <p:cNvSpPr txBox="1"/>
          <p:nvPr/>
        </p:nvSpPr>
        <p:spPr>
          <a:xfrm>
            <a:off x="1857356" y="1928802"/>
            <a:ext cx="5286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chemeClr val="tx1"/>
                </a:solidFill>
              </a:rPr>
              <a:t>Prédiction réalisée par le modèle obtenu</a:t>
            </a:r>
            <a:endParaRPr lang="fr-FR" sz="1800" b="1" dirty="0">
              <a:solidFill>
                <a:schemeClr val="tx1"/>
              </a:solidFill>
            </a:endParaRPr>
          </a:p>
        </p:txBody>
      </p:sp>
      <p:pic>
        <p:nvPicPr>
          <p:cNvPr id="35" name="Image 34" descr="p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158" y="2571744"/>
            <a:ext cx="8587465" cy="3824462"/>
          </a:xfrm>
          <a:prstGeom prst="rect">
            <a:avLst/>
          </a:prstGeom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559410" y="1049507"/>
            <a:ext cx="7901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II- Déterminants de l’accès à l’emploi chez les diplômés de la FP de la région  </a:t>
            </a:r>
            <a:r>
              <a:rPr lang="fr-FR" sz="180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Drâa</a:t>
            </a:r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-Tafilalet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630908"/>
            <a:ext cx="499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3-Résultats</a:t>
            </a:r>
            <a:endParaRPr lang="fr-FR" sz="1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0" y="6519470"/>
            <a:ext cx="9144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9" name="ZoneTexte 8"/>
          <p:cNvSpPr txBox="1"/>
          <p:nvPr/>
        </p:nvSpPr>
        <p:spPr>
          <a:xfrm>
            <a:off x="785786" y="2000240"/>
            <a:ext cx="7215238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hypothèses de la recherche</a:t>
            </a:r>
            <a:endParaRPr lang="fr-FR" sz="18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fr-FR" sz="17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ZoneTexte 23"/>
          <p:cNvSpPr txBox="1"/>
          <p:nvPr/>
        </p:nvSpPr>
        <p:spPr>
          <a:xfrm>
            <a:off x="285720" y="2571744"/>
            <a:ext cx="8643998" cy="38318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50000"/>
              </a:lnSpc>
            </a:pPr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1 Les hommes sont plus susceptibles de trouver un emploi que les femmes : </a:t>
            </a:r>
            <a:r>
              <a:rPr lang="fr-FR" sz="18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infirmée</a:t>
            </a:r>
            <a:endParaRPr lang="fr-FR" sz="18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</a:pPr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2 La probabilité d’accéder à l’emploi augmente avec l’âge:  </a:t>
            </a:r>
            <a:r>
              <a:rPr lang="fr-FR" sz="18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confirmée</a:t>
            </a:r>
            <a:endParaRPr lang="fr-FR" sz="18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200000"/>
              </a:lnSpc>
            </a:pPr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3 L’augmentation du niveau de formation réduit les chances d’accéder à l’emploi: </a:t>
            </a:r>
            <a:endParaRPr lang="fr-FR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/>
            <a:r>
              <a:rPr lang="fr-FR" sz="18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Confirmée </a:t>
            </a:r>
            <a:endParaRPr lang="fr-FR" sz="18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/>
            <a:endParaRPr lang="fr-FR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/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4 L’accès à l’emploi dépend du domaine de formation acquise par le diplômé: </a:t>
            </a:r>
            <a:r>
              <a:rPr lang="fr-FR" sz="18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Confirmée </a:t>
            </a:r>
            <a:endParaRPr lang="fr-FR" sz="18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/>
            <a:endParaRPr lang="fr-FR" sz="1800" b="1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/>
            <a:r>
              <a:rPr lang="fr-FR" sz="18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 5 Certains opérateurs de la formation professionnelle influencent l’accès à l’emploi: </a:t>
            </a:r>
            <a:r>
              <a:rPr lang="fr-FR" sz="1800" b="1" dirty="0" smtClean="0">
                <a:solidFill>
                  <a:srgbClr val="FF66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Confirmée</a:t>
            </a:r>
            <a:endParaRPr lang="fr-FR" sz="1800" b="1" dirty="0" smtClean="0">
              <a:solidFill>
                <a:srgbClr val="FF66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559410" y="1049507"/>
            <a:ext cx="7901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III- Création d’emplois au profit des diplômés de la formation professionnelle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435416"/>
            <a:ext cx="499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1-Arbre des problèmes</a:t>
            </a:r>
            <a:endParaRPr lang="fr-FR" sz="1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0" y="6519470"/>
            <a:ext cx="9144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0" name="Rectangle 9"/>
          <p:cNvSpPr/>
          <p:nvPr/>
        </p:nvSpPr>
        <p:spPr bwMode="auto">
          <a:xfrm>
            <a:off x="2071670" y="3357562"/>
            <a:ext cx="5072098" cy="1500198"/>
          </a:xfrm>
          <a:prstGeom prst="rect">
            <a:avLst/>
          </a:prstGeom>
          <a:solidFill>
            <a:srgbClr val="9966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/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fr-FR" sz="18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Très peu d’emploi créé dans le secteur </a:t>
            </a: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fr-FR" sz="18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 l’industrie :</a:t>
            </a:r>
            <a:r>
              <a:rPr kumimoji="0" lang="fr-FR" sz="1800" b="1" i="0" u="none" strike="noStrike" cap="none" normalizeH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Textile et IMME  </a:t>
            </a:r>
            <a:endParaRPr lang="fr-FR" sz="18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fr-FR" sz="1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ainsi que pour les diplômés </a:t>
            </a:r>
            <a:endParaRPr lang="fr-FR" sz="18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fr-FR" sz="18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d’un haut niveau de la FP</a:t>
            </a:r>
            <a:endParaRPr lang="fr-FR" sz="1800" b="1" dirty="0" smtClean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fr-FR" sz="1800" b="1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fr-FR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ZoneTexte 10"/>
          <p:cNvSpPr txBox="1"/>
          <p:nvPr/>
        </p:nvSpPr>
        <p:spPr>
          <a:xfrm>
            <a:off x="142844" y="2004475"/>
            <a:ext cx="1928826" cy="11387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fr-FR" sz="1700" b="1" dirty="0" smtClean="0">
              <a:solidFill>
                <a:schemeClr val="tx1"/>
              </a:solidFill>
            </a:endParaRPr>
          </a:p>
          <a:p>
            <a:pPr algn="ctr"/>
            <a:r>
              <a:rPr lang="fr-FR" sz="1700" b="1" dirty="0" smtClean="0">
                <a:solidFill>
                  <a:schemeClr val="tx1"/>
                </a:solidFill>
              </a:rPr>
              <a:t>Migration du capital humain </a:t>
            </a:r>
            <a:endParaRPr lang="fr-FR" sz="1700" b="1" dirty="0" smtClean="0">
              <a:solidFill>
                <a:schemeClr val="tx1"/>
              </a:solidFill>
            </a:endParaRPr>
          </a:p>
          <a:p>
            <a:pPr algn="ctr"/>
            <a:endParaRPr lang="fr-FR" sz="1700" b="1" dirty="0">
              <a:solidFill>
                <a:schemeClr val="tx1"/>
              </a:solidFill>
            </a:endParaRPr>
          </a:p>
        </p:txBody>
      </p:sp>
      <p:sp>
        <p:nvSpPr>
          <p:cNvPr id="12" name="ZoneTexte 11"/>
          <p:cNvSpPr txBox="1"/>
          <p:nvPr/>
        </p:nvSpPr>
        <p:spPr>
          <a:xfrm>
            <a:off x="2285984" y="2004475"/>
            <a:ext cx="2857520" cy="11387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fr-FR" sz="1700" b="1" dirty="0" smtClean="0">
              <a:solidFill>
                <a:schemeClr val="tx1"/>
              </a:solidFill>
            </a:endParaRPr>
          </a:p>
          <a:p>
            <a:pPr algn="ctr"/>
            <a:r>
              <a:rPr lang="fr-FR" sz="1700" b="1" dirty="0" smtClean="0">
                <a:solidFill>
                  <a:schemeClr val="tx1"/>
                </a:solidFill>
              </a:rPr>
              <a:t>Faible compétitivité de la région</a:t>
            </a:r>
            <a:endParaRPr lang="fr-FR" sz="1700" b="1" dirty="0" smtClean="0">
              <a:solidFill>
                <a:schemeClr val="tx1"/>
              </a:solidFill>
            </a:endParaRPr>
          </a:p>
          <a:p>
            <a:pPr algn="ctr"/>
            <a:endParaRPr lang="fr-FR" sz="1700" b="1" dirty="0">
              <a:solidFill>
                <a:schemeClr val="tx1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5357818" y="2000240"/>
            <a:ext cx="3643338" cy="11387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endParaRPr lang="fr-FR" sz="1700" b="1" dirty="0" smtClean="0">
              <a:solidFill>
                <a:schemeClr val="tx1"/>
              </a:solidFill>
            </a:endParaRPr>
          </a:p>
          <a:p>
            <a:pPr algn="ctr"/>
            <a:r>
              <a:rPr lang="fr-FR" sz="1700" b="1" dirty="0" smtClean="0">
                <a:solidFill>
                  <a:schemeClr val="tx1"/>
                </a:solidFill>
              </a:rPr>
              <a:t>Retard et sous-développement de la région dans le domaine industriel</a:t>
            </a:r>
            <a:endParaRPr lang="fr-FR" sz="1700" b="1" dirty="0" smtClean="0">
              <a:solidFill>
                <a:schemeClr val="tx1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295244" y="5004871"/>
            <a:ext cx="1928826" cy="1400383"/>
          </a:xfrm>
          <a:prstGeom prst="rect">
            <a:avLst/>
          </a:prstGeom>
          <a:solidFill>
            <a:srgbClr val="F0CEDD"/>
          </a:solidFill>
        </p:spPr>
        <p:txBody>
          <a:bodyPr wrap="square" rtlCol="0">
            <a:spAutoFit/>
          </a:bodyPr>
          <a:lstStyle/>
          <a:p>
            <a:pPr algn="ctr"/>
            <a:endParaRPr lang="fr-FR" sz="1700" b="1" dirty="0" smtClean="0">
              <a:solidFill>
                <a:schemeClr val="tx1"/>
              </a:solidFill>
            </a:endParaRPr>
          </a:p>
          <a:p>
            <a:pPr algn="ctr"/>
            <a:r>
              <a:rPr lang="fr-FR" sz="1700" b="1" dirty="0" smtClean="0">
                <a:solidFill>
                  <a:schemeClr val="tx1"/>
                </a:solidFill>
              </a:rPr>
              <a:t>Manque des infrastructures d’accueil</a:t>
            </a:r>
            <a:endParaRPr lang="fr-FR" sz="1700" b="1" dirty="0" smtClean="0">
              <a:solidFill>
                <a:schemeClr val="tx1"/>
              </a:solidFill>
            </a:endParaRPr>
          </a:p>
          <a:p>
            <a:pPr algn="ctr"/>
            <a:endParaRPr lang="fr-FR" sz="1700" b="1" dirty="0">
              <a:solidFill>
                <a:schemeClr val="tx1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2357422" y="5000636"/>
            <a:ext cx="3643338" cy="1400383"/>
          </a:xfrm>
          <a:prstGeom prst="rect">
            <a:avLst/>
          </a:prstGeom>
          <a:solidFill>
            <a:srgbClr val="F0CEDD"/>
          </a:solidFill>
        </p:spPr>
        <p:txBody>
          <a:bodyPr wrap="square" rtlCol="0">
            <a:spAutoFit/>
          </a:bodyPr>
          <a:lstStyle/>
          <a:p>
            <a:pPr algn="ctr"/>
            <a:endParaRPr lang="fr-FR" sz="1700" b="1" dirty="0" smtClean="0">
              <a:solidFill>
                <a:schemeClr val="tx1"/>
              </a:solidFill>
            </a:endParaRPr>
          </a:p>
          <a:p>
            <a:pPr algn="ctr"/>
            <a:r>
              <a:rPr lang="fr-FR" sz="1700" b="1" dirty="0" smtClean="0">
                <a:solidFill>
                  <a:schemeClr val="tx1"/>
                </a:solidFill>
              </a:rPr>
              <a:t>Absence d’intérêt et d’implication de la région dans les stratégies nationale d’AI</a:t>
            </a:r>
            <a:endParaRPr lang="fr-FR" sz="1700" b="1" dirty="0" smtClean="0">
              <a:solidFill>
                <a:schemeClr val="tx1"/>
              </a:solidFill>
            </a:endParaRPr>
          </a:p>
          <a:p>
            <a:pPr algn="ctr"/>
            <a:endParaRPr lang="fr-FR" sz="1700" b="1" dirty="0" smtClean="0">
              <a:solidFill>
                <a:schemeClr val="tx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6143636" y="5000636"/>
            <a:ext cx="2857520" cy="1400383"/>
          </a:xfrm>
          <a:prstGeom prst="rect">
            <a:avLst/>
          </a:prstGeom>
          <a:solidFill>
            <a:srgbClr val="F0CEDD"/>
          </a:solidFill>
        </p:spPr>
        <p:txBody>
          <a:bodyPr wrap="square" rtlCol="0">
            <a:spAutoFit/>
          </a:bodyPr>
          <a:lstStyle/>
          <a:p>
            <a:pPr algn="ctr"/>
            <a:endParaRPr lang="fr-FR" sz="1700" b="1" dirty="0" smtClean="0">
              <a:solidFill>
                <a:schemeClr val="tx1"/>
              </a:solidFill>
            </a:endParaRPr>
          </a:p>
          <a:p>
            <a:pPr algn="ctr"/>
            <a:r>
              <a:rPr lang="fr-FR" sz="1700" b="1" dirty="0" smtClean="0">
                <a:solidFill>
                  <a:schemeClr val="tx1"/>
                </a:solidFill>
              </a:rPr>
              <a:t>Insuffisance des aides financières dédiées au développement du secteur</a:t>
            </a:r>
            <a:endParaRPr lang="fr-FR" sz="17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B58DB9E-E71D-475F-B8A8-CE6EDC3232FA}" type="datetime1">
              <a:rPr lang="fr-FR" smtClean="0"/>
            </a:fld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559410" y="1049507"/>
            <a:ext cx="7901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III- Création d’emplois au profit des diplômés de la formation professionnelle</a:t>
            </a:r>
            <a:endParaRPr lang="fr-FR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1019060" y="1435416"/>
            <a:ext cx="499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800" b="1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1-Arbre des solutions</a:t>
            </a:r>
            <a:endParaRPr lang="fr-FR" sz="1800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ZoneTexte 18"/>
          <p:cNvSpPr txBox="1"/>
          <p:nvPr/>
        </p:nvSpPr>
        <p:spPr>
          <a:xfrm>
            <a:off x="0" y="6519470"/>
            <a:ext cx="9144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214282" y="3071811"/>
            <a:ext cx="2214578" cy="8771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fr-FR" sz="1700" b="1" dirty="0" smtClean="0">
              <a:solidFill>
                <a:schemeClr val="tx1"/>
              </a:solidFill>
            </a:endParaRPr>
          </a:p>
          <a:p>
            <a:r>
              <a:rPr lang="fr-FR" sz="1700" b="1" dirty="0" smtClean="0">
                <a:solidFill>
                  <a:schemeClr val="tx1"/>
                </a:solidFill>
              </a:rPr>
              <a:t>Objectif spécifique</a:t>
            </a:r>
            <a:endParaRPr lang="fr-FR" sz="1700" b="1" dirty="0" smtClean="0">
              <a:solidFill>
                <a:schemeClr val="tx1"/>
              </a:solidFill>
            </a:endParaRPr>
          </a:p>
          <a:p>
            <a:endParaRPr lang="fr-FR" sz="1700" b="1" dirty="0">
              <a:solidFill>
                <a:schemeClr val="tx1"/>
              </a:solidFill>
            </a:endParaRPr>
          </a:p>
        </p:txBody>
      </p:sp>
      <p:sp>
        <p:nvSpPr>
          <p:cNvPr id="13" name="ZoneTexte 12"/>
          <p:cNvSpPr txBox="1"/>
          <p:nvPr/>
        </p:nvSpPr>
        <p:spPr>
          <a:xfrm>
            <a:off x="2786050" y="2143116"/>
            <a:ext cx="5715040" cy="615553"/>
          </a:xfrm>
          <a:prstGeom prst="rect">
            <a:avLst/>
          </a:prstGeom>
          <a:solidFill>
            <a:srgbClr val="F0CEDD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700" b="1" dirty="0" smtClean="0">
                <a:solidFill>
                  <a:schemeClr val="tx1"/>
                </a:solidFill>
              </a:rPr>
              <a:t>Une croissance viable de l’emploi créée  pour les diplômés de la FP en textile et IMME </a:t>
            </a:r>
            <a:endParaRPr lang="fr-FR" sz="1700" b="1" dirty="0" smtClean="0">
              <a:solidFill>
                <a:schemeClr val="tx1"/>
              </a:solidFill>
            </a:endParaRPr>
          </a:p>
        </p:txBody>
      </p:sp>
      <p:sp>
        <p:nvSpPr>
          <p:cNvPr id="14" name="ZoneTexte 13"/>
          <p:cNvSpPr txBox="1"/>
          <p:nvPr/>
        </p:nvSpPr>
        <p:spPr>
          <a:xfrm>
            <a:off x="357158" y="4786322"/>
            <a:ext cx="1928826" cy="1400383"/>
          </a:xfrm>
          <a:prstGeom prst="rect">
            <a:avLst/>
          </a:prstGeom>
          <a:solidFill>
            <a:srgbClr val="993366"/>
          </a:solidFill>
        </p:spPr>
        <p:txBody>
          <a:bodyPr wrap="square" rtlCol="0">
            <a:spAutoFit/>
          </a:bodyPr>
          <a:lstStyle/>
          <a:p>
            <a:pPr algn="ctr"/>
            <a:endParaRPr lang="fr-FR" sz="1700" b="1" dirty="0" smtClean="0">
              <a:solidFill>
                <a:schemeClr val="bg1"/>
              </a:solidFill>
            </a:endParaRPr>
          </a:p>
          <a:p>
            <a:pPr algn="ctr"/>
            <a:r>
              <a:rPr lang="fr-FR" sz="1700" b="1" dirty="0" smtClean="0">
                <a:solidFill>
                  <a:schemeClr val="bg1"/>
                </a:solidFill>
              </a:rPr>
              <a:t>Installation des infrastructures d’accueil</a:t>
            </a:r>
            <a:endParaRPr lang="fr-FR" sz="1700" b="1" dirty="0" smtClean="0">
              <a:solidFill>
                <a:schemeClr val="bg1"/>
              </a:solidFill>
            </a:endParaRPr>
          </a:p>
          <a:p>
            <a:pPr algn="ctr"/>
            <a:endParaRPr lang="fr-FR" sz="1700" b="1" dirty="0" smtClean="0">
              <a:solidFill>
                <a:schemeClr val="bg1"/>
              </a:solidFill>
            </a:endParaRPr>
          </a:p>
        </p:txBody>
      </p:sp>
      <p:sp>
        <p:nvSpPr>
          <p:cNvPr id="15" name="ZoneTexte 14"/>
          <p:cNvSpPr txBox="1"/>
          <p:nvPr/>
        </p:nvSpPr>
        <p:spPr>
          <a:xfrm>
            <a:off x="2428860" y="4786322"/>
            <a:ext cx="2857520" cy="1400383"/>
          </a:xfrm>
          <a:prstGeom prst="rect">
            <a:avLst/>
          </a:prstGeom>
          <a:solidFill>
            <a:srgbClr val="993366"/>
          </a:solidFill>
        </p:spPr>
        <p:txBody>
          <a:bodyPr wrap="square" rtlCol="0">
            <a:spAutoFit/>
          </a:bodyPr>
          <a:lstStyle/>
          <a:p>
            <a:pPr algn="ctr"/>
            <a:endParaRPr lang="fr-FR" sz="1700" b="1" dirty="0" smtClean="0">
              <a:solidFill>
                <a:schemeClr val="bg1"/>
              </a:solidFill>
            </a:endParaRPr>
          </a:p>
          <a:p>
            <a:pPr algn="ctr"/>
            <a:r>
              <a:rPr lang="fr-FR" sz="1700" b="1" dirty="0" smtClean="0">
                <a:solidFill>
                  <a:schemeClr val="bg1"/>
                </a:solidFill>
              </a:rPr>
              <a:t>Implication de la région dans La stratégie nationale PAI</a:t>
            </a:r>
            <a:endParaRPr lang="fr-FR" sz="1700" b="1" dirty="0" smtClean="0">
              <a:solidFill>
                <a:schemeClr val="bg1"/>
              </a:solidFill>
            </a:endParaRPr>
          </a:p>
          <a:p>
            <a:pPr algn="ctr"/>
            <a:endParaRPr lang="fr-FR" sz="1700" b="1" dirty="0" smtClean="0">
              <a:solidFill>
                <a:schemeClr val="bg1"/>
              </a:solidFill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5429256" y="4786322"/>
            <a:ext cx="3571900" cy="1400383"/>
          </a:xfrm>
          <a:prstGeom prst="rect">
            <a:avLst/>
          </a:prstGeom>
          <a:solidFill>
            <a:srgbClr val="993366"/>
          </a:solidFill>
        </p:spPr>
        <p:txBody>
          <a:bodyPr wrap="square" rtlCol="0">
            <a:spAutoFit/>
          </a:bodyPr>
          <a:lstStyle/>
          <a:p>
            <a:pPr algn="ctr"/>
            <a:endParaRPr lang="fr-FR" sz="1700" b="1" dirty="0" smtClean="0">
              <a:solidFill>
                <a:schemeClr val="bg1"/>
              </a:solidFill>
            </a:endParaRPr>
          </a:p>
          <a:p>
            <a:pPr algn="ctr"/>
            <a:r>
              <a:rPr lang="fr-FR" sz="1700" b="1" dirty="0" smtClean="0">
                <a:solidFill>
                  <a:schemeClr val="bg1"/>
                </a:solidFill>
              </a:rPr>
              <a:t>Allocation des aides financières et non financières pour le développement du secteur</a:t>
            </a:r>
            <a:endParaRPr lang="fr-FR" sz="1700" b="1" dirty="0" smtClean="0">
              <a:solidFill>
                <a:schemeClr val="bg1"/>
              </a:solidFill>
            </a:endParaRPr>
          </a:p>
          <a:p>
            <a:pPr algn="ctr"/>
            <a:endParaRPr lang="fr-FR" sz="1700" b="1" dirty="0" smtClean="0">
              <a:solidFill>
                <a:schemeClr val="bg1"/>
              </a:solidFill>
            </a:endParaRPr>
          </a:p>
        </p:txBody>
      </p:sp>
      <p:sp>
        <p:nvSpPr>
          <p:cNvPr id="17" name="ZoneTexte 16"/>
          <p:cNvSpPr txBox="1"/>
          <p:nvPr/>
        </p:nvSpPr>
        <p:spPr>
          <a:xfrm>
            <a:off x="214282" y="2000240"/>
            <a:ext cx="2214578" cy="8771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fr-FR" sz="1700" b="1" dirty="0" smtClean="0">
              <a:solidFill>
                <a:schemeClr val="tx1"/>
              </a:solidFill>
            </a:endParaRPr>
          </a:p>
          <a:p>
            <a:r>
              <a:rPr lang="fr-FR" sz="1700" b="1" dirty="0" smtClean="0">
                <a:solidFill>
                  <a:schemeClr val="tx1"/>
                </a:solidFill>
              </a:rPr>
              <a:t>Objectif global</a:t>
            </a:r>
            <a:endParaRPr lang="fr-FR" sz="1700" b="1" dirty="0" smtClean="0">
              <a:solidFill>
                <a:schemeClr val="tx1"/>
              </a:solidFill>
            </a:endParaRPr>
          </a:p>
          <a:p>
            <a:endParaRPr lang="fr-FR" sz="1700" b="1" dirty="0">
              <a:solidFill>
                <a:schemeClr val="tx1"/>
              </a:solidFill>
            </a:endParaRPr>
          </a:p>
        </p:txBody>
      </p:sp>
      <p:sp>
        <p:nvSpPr>
          <p:cNvPr id="18" name="ZoneTexte 17"/>
          <p:cNvSpPr txBox="1"/>
          <p:nvPr/>
        </p:nvSpPr>
        <p:spPr>
          <a:xfrm>
            <a:off x="2786050" y="3170637"/>
            <a:ext cx="5715040" cy="615553"/>
          </a:xfrm>
          <a:prstGeom prst="rect">
            <a:avLst/>
          </a:prstGeom>
          <a:solidFill>
            <a:srgbClr val="F0CEDD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700" b="1" dirty="0" smtClean="0">
                <a:solidFill>
                  <a:schemeClr val="tx1"/>
                </a:solidFill>
              </a:rPr>
              <a:t>Promotion des entreprises spécialisés dans le domaine industriel</a:t>
            </a:r>
            <a:endParaRPr lang="fr-FR" sz="1700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bldLvl="0" animBg="1"/>
      <p:bldP spid="15" grpId="0" bldLvl="0" animBg="1"/>
      <p:bldP spid="16" grpId="0" bldLvl="0" animBg="1"/>
      <p:bldP spid="17" grpId="0" animBg="1"/>
      <p:bldP spid="18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re 1"/>
          <p:cNvSpPr>
            <a:spLocks noGrp="1"/>
          </p:cNvSpPr>
          <p:nvPr>
            <p:ph type="title"/>
          </p:nvPr>
        </p:nvSpPr>
        <p:spPr>
          <a:xfrm>
            <a:off x="1187450" y="2420938"/>
            <a:ext cx="6985000" cy="1143000"/>
          </a:xfrm>
        </p:spPr>
        <p:txBody>
          <a:bodyPr/>
          <a:lstStyle/>
          <a:p>
            <a:r>
              <a:rPr lang="fr-FR" sz="3000" dirty="0" smtClean="0">
                <a:solidFill>
                  <a:schemeClr val="tx1"/>
                </a:solidFill>
              </a:rPr>
              <a:t>Merci pour votre attention</a:t>
            </a:r>
            <a:endParaRPr lang="fr-FR" sz="3000" dirty="0" smtClean="0">
              <a:solidFill>
                <a:schemeClr val="tx1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24F4DBA-B619-42E3-8352-D0DFD3138B33}" type="datetime1">
              <a:rPr lang="fr-FR" smtClean="0"/>
            </a:fld>
            <a:endParaRPr lang="fr-FR"/>
          </a:p>
        </p:txBody>
      </p:sp>
      <p:sp>
        <p:nvSpPr>
          <p:cNvPr id="17412" name="Espace réservé du numéro de diapositive 4"/>
          <p:cNvSpPr>
            <a:spLocks noGrp="1"/>
          </p:cNvSpPr>
          <p:nvPr>
            <p:ph type="sldNum" sz="quarter" idx="1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rgbClr val="F18E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fld id="{B07773CC-3B63-401D-8148-D6F80F10BC76}" type="slidenum">
              <a:rPr lang="fr-FR" altLang="fr-FR" sz="1200" smtClean="0"/>
            </a:fld>
            <a:endParaRPr lang="fr-FR" altLang="fr-FR" sz="1200" smtClean="0"/>
          </a:p>
        </p:txBody>
      </p:sp>
      <p:sp>
        <p:nvSpPr>
          <p:cNvPr id="5" name="ZoneTexte 4"/>
          <p:cNvSpPr txBox="1"/>
          <p:nvPr/>
        </p:nvSpPr>
        <p:spPr>
          <a:xfrm>
            <a:off x="0" y="6519446"/>
            <a:ext cx="9144000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3_hcp_model">
  <a:themeElements>
    <a:clrScheme name="hcp_model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3_hcp_model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fr-FR" sz="1600" b="0" i="0" u="none" strike="noStrike" cap="none" normalizeH="0" baseline="0" smtClean="0">
            <a:ln>
              <a:noFill/>
            </a:ln>
            <a:solidFill>
              <a:srgbClr val="F18E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fr-FR" sz="1600" b="0" i="0" u="none" strike="noStrike" cap="none" normalizeH="0" baseline="0" smtClean="0">
            <a:ln>
              <a:noFill/>
            </a:ln>
            <a:solidFill>
              <a:srgbClr val="F18E00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hcp_model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p_model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p_model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p_model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p_model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cp_model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p_model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p_model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p_model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p_model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p_model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cp_model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8473</Words>
  <Application>WPS Presentation</Application>
  <PresentationFormat>Affichage à l'écran (4:3)</PresentationFormat>
  <Paragraphs>533</Paragraphs>
  <Slides>23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3" baseType="lpstr">
      <vt:lpstr>Arial</vt:lpstr>
      <vt:lpstr>SimSun</vt:lpstr>
      <vt:lpstr>Wingdings</vt:lpstr>
      <vt:lpstr>Edwardian Script ITC</vt:lpstr>
      <vt:lpstr>Century Gothic</vt:lpstr>
      <vt:lpstr>Times New Roman</vt:lpstr>
      <vt:lpstr>Book Antiqua</vt:lpstr>
      <vt:lpstr>Microsoft YaHei</vt:lpstr>
      <vt:lpstr>Arial Unicode MS</vt:lpstr>
      <vt:lpstr>13_hcp_model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Merci pour votre attention</vt:lpstr>
    </vt:vector>
  </TitlesOfParts>
  <Company>hcp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user</dc:creator>
  <cp:lastModifiedBy>The Mazegirl</cp:lastModifiedBy>
  <cp:revision>725</cp:revision>
  <dcterms:created xsi:type="dcterms:W3CDTF">2009-03-09T10:18:00Z</dcterms:created>
  <dcterms:modified xsi:type="dcterms:W3CDTF">2026-07-24T13:32:01Z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4F83A8853B6D4579B629E87985C20012_13</vt:lpwstr>
  </property>
  <property fmtid="{D5CDD505-2E9C-101B-9397-08002B2CF9AE}" pid="3" name="KSOProductBuildVer">
    <vt:lpwstr>1033-12.1.0.27458</vt:lpwstr>
  </property>
</Properties>
</file>